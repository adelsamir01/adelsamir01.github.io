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03"/>
  </p:normalViewPr>
  <p:slideViewPr>
    <p:cSldViewPr snapToGrid="0" snapToObjects="1">
      <p:cViewPr varScale="1">
        <p:scale>
          <a:sx n="154" d="100"/>
          <a:sy n="154" d="100"/>
        </p:scale>
        <p:origin x="800"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775994-9A6B-0F4A-AC61-71AEDC5149D6}" type="doc">
      <dgm:prSet loTypeId="urn:microsoft.com/office/officeart/2005/8/layout/pyramid1" loCatId="" qsTypeId="urn:microsoft.com/office/officeart/2005/8/quickstyle/simple1" qsCatId="simple" csTypeId="urn:microsoft.com/office/officeart/2005/8/colors/accent0_1" csCatId="mainScheme" phldr="1"/>
      <dgm:spPr/>
    </dgm:pt>
    <dgm:pt modelId="{0D33067E-4E70-5A4A-B43C-6747514FBB21}">
      <dgm:prSet phldrT="[Text]" custT="1"/>
      <dgm:spPr/>
      <dgm:t>
        <a:bodyPr anchor="b"/>
        <a:lstStyle/>
        <a:p>
          <a:pPr rtl="0"/>
          <a:r>
            <a:rPr lang="en-GB" sz="2400" dirty="0"/>
            <a:t>100% AI</a:t>
          </a:r>
        </a:p>
      </dgm:t>
    </dgm:pt>
    <dgm:pt modelId="{21BA0E88-13C4-9247-9FDA-F48B985F747A}" type="parTrans" cxnId="{373A4F55-0B3F-1340-8C88-98BD45755A24}">
      <dgm:prSet/>
      <dgm:spPr/>
      <dgm:t>
        <a:bodyPr/>
        <a:lstStyle/>
        <a:p>
          <a:endParaRPr lang="en-GB"/>
        </a:p>
      </dgm:t>
    </dgm:pt>
    <dgm:pt modelId="{6ACF96DF-6954-4B41-8029-3EBEBE4FB4A0}" type="sibTrans" cxnId="{373A4F55-0B3F-1340-8C88-98BD45755A24}">
      <dgm:prSet/>
      <dgm:spPr/>
      <dgm:t>
        <a:bodyPr/>
        <a:lstStyle/>
        <a:p>
          <a:endParaRPr lang="en-GB"/>
        </a:p>
      </dgm:t>
    </dgm:pt>
    <dgm:pt modelId="{84D69993-49DD-2C41-A31C-49814C81D89A}">
      <dgm:prSet phldrT="[Text]" custT="1"/>
      <dgm:spPr/>
      <dgm:t>
        <a:bodyPr/>
        <a:lstStyle/>
        <a:p>
          <a:r>
            <a:rPr lang="en-GB" sz="2400" dirty="0"/>
            <a:t>Less than 50% AI </a:t>
          </a:r>
        </a:p>
      </dgm:t>
    </dgm:pt>
    <dgm:pt modelId="{DA03E35D-DA61-7942-9FD2-4D54806C1442}" type="parTrans" cxnId="{6BA81321-0E63-0C43-A25F-EAD2E443DE81}">
      <dgm:prSet/>
      <dgm:spPr/>
      <dgm:t>
        <a:bodyPr/>
        <a:lstStyle/>
        <a:p>
          <a:endParaRPr lang="en-GB"/>
        </a:p>
      </dgm:t>
    </dgm:pt>
    <dgm:pt modelId="{2338DF53-1FCE-0244-9FA0-CEE53695618B}" type="sibTrans" cxnId="{6BA81321-0E63-0C43-A25F-EAD2E443DE81}">
      <dgm:prSet/>
      <dgm:spPr/>
      <dgm:t>
        <a:bodyPr/>
        <a:lstStyle/>
        <a:p>
          <a:endParaRPr lang="en-GB"/>
        </a:p>
      </dgm:t>
    </dgm:pt>
    <dgm:pt modelId="{29458515-58B1-6249-842A-E728A66EA2DC}">
      <dgm:prSet phldrT="[Text]"/>
      <dgm:spPr/>
      <dgm:t>
        <a:bodyPr/>
        <a:lstStyle/>
        <a:p>
          <a:pPr rtl="0"/>
          <a:r>
            <a:rPr lang="en-GB" dirty="0"/>
            <a:t>No AI</a:t>
          </a:r>
        </a:p>
      </dgm:t>
    </dgm:pt>
    <dgm:pt modelId="{FABA6372-364C-9840-B51A-3802DD781C9E}" type="parTrans" cxnId="{78981690-E0D2-DA48-8E5A-A4D238C6C0B2}">
      <dgm:prSet/>
      <dgm:spPr/>
      <dgm:t>
        <a:bodyPr/>
        <a:lstStyle/>
        <a:p>
          <a:endParaRPr lang="en-GB"/>
        </a:p>
      </dgm:t>
    </dgm:pt>
    <dgm:pt modelId="{457AF2F5-8637-2E43-9A76-ED6A69B3D427}" type="sibTrans" cxnId="{78981690-E0D2-DA48-8E5A-A4D238C6C0B2}">
      <dgm:prSet/>
      <dgm:spPr/>
      <dgm:t>
        <a:bodyPr/>
        <a:lstStyle/>
        <a:p>
          <a:endParaRPr lang="en-GB"/>
        </a:p>
      </dgm:t>
    </dgm:pt>
    <dgm:pt modelId="{6F5301DE-E527-CD49-BDF4-57022D26D8C6}" type="pres">
      <dgm:prSet presAssocID="{FF775994-9A6B-0F4A-AC61-71AEDC5149D6}" presName="Name0" presStyleCnt="0">
        <dgm:presLayoutVars>
          <dgm:dir/>
          <dgm:animLvl val="lvl"/>
          <dgm:resizeHandles val="exact"/>
        </dgm:presLayoutVars>
      </dgm:prSet>
      <dgm:spPr/>
    </dgm:pt>
    <dgm:pt modelId="{3A90D73D-1A27-6149-AEA8-A89980ACBB87}" type="pres">
      <dgm:prSet presAssocID="{0D33067E-4E70-5A4A-B43C-6747514FBB21}" presName="Name8" presStyleCnt="0"/>
      <dgm:spPr/>
    </dgm:pt>
    <dgm:pt modelId="{51A86B14-73C0-AF43-A0E7-0E6C8E2D6F19}" type="pres">
      <dgm:prSet presAssocID="{0D33067E-4E70-5A4A-B43C-6747514FBB21}" presName="level" presStyleLbl="node1" presStyleIdx="0" presStyleCnt="3">
        <dgm:presLayoutVars>
          <dgm:chMax val="1"/>
          <dgm:bulletEnabled val="1"/>
        </dgm:presLayoutVars>
      </dgm:prSet>
      <dgm:spPr/>
    </dgm:pt>
    <dgm:pt modelId="{0A423C1B-D4F1-D347-809F-2315A34CE3B4}" type="pres">
      <dgm:prSet presAssocID="{0D33067E-4E70-5A4A-B43C-6747514FBB21}" presName="levelTx" presStyleLbl="revTx" presStyleIdx="0" presStyleCnt="0">
        <dgm:presLayoutVars>
          <dgm:chMax val="1"/>
          <dgm:bulletEnabled val="1"/>
        </dgm:presLayoutVars>
      </dgm:prSet>
      <dgm:spPr/>
    </dgm:pt>
    <dgm:pt modelId="{F0E6C2C4-B8B9-F649-BB74-1E4ACDA0B83D}" type="pres">
      <dgm:prSet presAssocID="{84D69993-49DD-2C41-A31C-49814C81D89A}" presName="Name8" presStyleCnt="0"/>
      <dgm:spPr/>
    </dgm:pt>
    <dgm:pt modelId="{7FC3910E-A560-5146-AF5D-FAF1C98F608C}" type="pres">
      <dgm:prSet presAssocID="{84D69993-49DD-2C41-A31C-49814C81D89A}" presName="level" presStyleLbl="node1" presStyleIdx="1" presStyleCnt="3">
        <dgm:presLayoutVars>
          <dgm:chMax val="1"/>
          <dgm:bulletEnabled val="1"/>
        </dgm:presLayoutVars>
      </dgm:prSet>
      <dgm:spPr/>
    </dgm:pt>
    <dgm:pt modelId="{C218B24B-675C-064D-8716-0683DA79608B}" type="pres">
      <dgm:prSet presAssocID="{84D69993-49DD-2C41-A31C-49814C81D89A}" presName="levelTx" presStyleLbl="revTx" presStyleIdx="0" presStyleCnt="0">
        <dgm:presLayoutVars>
          <dgm:chMax val="1"/>
          <dgm:bulletEnabled val="1"/>
        </dgm:presLayoutVars>
      </dgm:prSet>
      <dgm:spPr/>
    </dgm:pt>
    <dgm:pt modelId="{238493B9-BA60-FF43-9F87-7C65210A981B}" type="pres">
      <dgm:prSet presAssocID="{29458515-58B1-6249-842A-E728A66EA2DC}" presName="Name8" presStyleCnt="0"/>
      <dgm:spPr/>
    </dgm:pt>
    <dgm:pt modelId="{D1782D7B-0278-4247-9C00-DE71903E50D2}" type="pres">
      <dgm:prSet presAssocID="{29458515-58B1-6249-842A-E728A66EA2DC}" presName="level" presStyleLbl="node1" presStyleIdx="2" presStyleCnt="3">
        <dgm:presLayoutVars>
          <dgm:chMax val="1"/>
          <dgm:bulletEnabled val="1"/>
        </dgm:presLayoutVars>
      </dgm:prSet>
      <dgm:spPr/>
    </dgm:pt>
    <dgm:pt modelId="{D3F1EFF8-E82E-3E41-9A33-89DAC0D181E0}" type="pres">
      <dgm:prSet presAssocID="{29458515-58B1-6249-842A-E728A66EA2DC}" presName="levelTx" presStyleLbl="revTx" presStyleIdx="0" presStyleCnt="0">
        <dgm:presLayoutVars>
          <dgm:chMax val="1"/>
          <dgm:bulletEnabled val="1"/>
        </dgm:presLayoutVars>
      </dgm:prSet>
      <dgm:spPr/>
    </dgm:pt>
  </dgm:ptLst>
  <dgm:cxnLst>
    <dgm:cxn modelId="{6BA81321-0E63-0C43-A25F-EAD2E443DE81}" srcId="{FF775994-9A6B-0F4A-AC61-71AEDC5149D6}" destId="{84D69993-49DD-2C41-A31C-49814C81D89A}" srcOrd="1" destOrd="0" parTransId="{DA03E35D-DA61-7942-9FD2-4D54806C1442}" sibTransId="{2338DF53-1FCE-0244-9FA0-CEE53695618B}"/>
    <dgm:cxn modelId="{937CC842-B9A8-A443-AC75-171451343C35}" type="presOf" srcId="{29458515-58B1-6249-842A-E728A66EA2DC}" destId="{D3F1EFF8-E82E-3E41-9A33-89DAC0D181E0}" srcOrd="1" destOrd="0" presId="urn:microsoft.com/office/officeart/2005/8/layout/pyramid1"/>
    <dgm:cxn modelId="{373A4F55-0B3F-1340-8C88-98BD45755A24}" srcId="{FF775994-9A6B-0F4A-AC61-71AEDC5149D6}" destId="{0D33067E-4E70-5A4A-B43C-6747514FBB21}" srcOrd="0" destOrd="0" parTransId="{21BA0E88-13C4-9247-9FDA-F48B985F747A}" sibTransId="{6ACF96DF-6954-4B41-8029-3EBEBE4FB4A0}"/>
    <dgm:cxn modelId="{ADCFE18E-B3E4-0848-B714-8114BD0AD912}" type="presOf" srcId="{0D33067E-4E70-5A4A-B43C-6747514FBB21}" destId="{51A86B14-73C0-AF43-A0E7-0E6C8E2D6F19}" srcOrd="0" destOrd="0" presId="urn:microsoft.com/office/officeart/2005/8/layout/pyramid1"/>
    <dgm:cxn modelId="{78981690-E0D2-DA48-8E5A-A4D238C6C0B2}" srcId="{FF775994-9A6B-0F4A-AC61-71AEDC5149D6}" destId="{29458515-58B1-6249-842A-E728A66EA2DC}" srcOrd="2" destOrd="0" parTransId="{FABA6372-364C-9840-B51A-3802DD781C9E}" sibTransId="{457AF2F5-8637-2E43-9A76-ED6A69B3D427}"/>
    <dgm:cxn modelId="{AF2671C2-D079-0B45-A8CF-C0CF7883100B}" type="presOf" srcId="{84D69993-49DD-2C41-A31C-49814C81D89A}" destId="{7FC3910E-A560-5146-AF5D-FAF1C98F608C}" srcOrd="0" destOrd="0" presId="urn:microsoft.com/office/officeart/2005/8/layout/pyramid1"/>
    <dgm:cxn modelId="{FDA1ADC5-58D8-5A49-AC24-75E988EABD50}" type="presOf" srcId="{FF775994-9A6B-0F4A-AC61-71AEDC5149D6}" destId="{6F5301DE-E527-CD49-BDF4-57022D26D8C6}" srcOrd="0" destOrd="0" presId="urn:microsoft.com/office/officeart/2005/8/layout/pyramid1"/>
    <dgm:cxn modelId="{F2C9C6C9-910C-5841-A765-EA134E19369F}" type="presOf" srcId="{29458515-58B1-6249-842A-E728A66EA2DC}" destId="{D1782D7B-0278-4247-9C00-DE71903E50D2}" srcOrd="0" destOrd="0" presId="urn:microsoft.com/office/officeart/2005/8/layout/pyramid1"/>
    <dgm:cxn modelId="{611CE3F7-2E7E-3344-958E-11FA321D33D2}" type="presOf" srcId="{0D33067E-4E70-5A4A-B43C-6747514FBB21}" destId="{0A423C1B-D4F1-D347-809F-2315A34CE3B4}" srcOrd="1" destOrd="0" presId="urn:microsoft.com/office/officeart/2005/8/layout/pyramid1"/>
    <dgm:cxn modelId="{C08E88FD-4FF9-0749-86C1-9F8675892B70}" type="presOf" srcId="{84D69993-49DD-2C41-A31C-49814C81D89A}" destId="{C218B24B-675C-064D-8716-0683DA79608B}" srcOrd="1" destOrd="0" presId="urn:microsoft.com/office/officeart/2005/8/layout/pyramid1"/>
    <dgm:cxn modelId="{4051AB04-089C-8A43-B636-ADFD837C823F}" type="presParOf" srcId="{6F5301DE-E527-CD49-BDF4-57022D26D8C6}" destId="{3A90D73D-1A27-6149-AEA8-A89980ACBB87}" srcOrd="0" destOrd="0" presId="urn:microsoft.com/office/officeart/2005/8/layout/pyramid1"/>
    <dgm:cxn modelId="{E56A1E6D-BBB6-1446-AA0E-C953BFB9F2F2}" type="presParOf" srcId="{3A90D73D-1A27-6149-AEA8-A89980ACBB87}" destId="{51A86B14-73C0-AF43-A0E7-0E6C8E2D6F19}" srcOrd="0" destOrd="0" presId="urn:microsoft.com/office/officeart/2005/8/layout/pyramid1"/>
    <dgm:cxn modelId="{426053FA-24FA-8E4F-B172-3EEC8569C548}" type="presParOf" srcId="{3A90D73D-1A27-6149-AEA8-A89980ACBB87}" destId="{0A423C1B-D4F1-D347-809F-2315A34CE3B4}" srcOrd="1" destOrd="0" presId="urn:microsoft.com/office/officeart/2005/8/layout/pyramid1"/>
    <dgm:cxn modelId="{368D8DAD-75AD-8648-A2CE-EC968561D7F8}" type="presParOf" srcId="{6F5301DE-E527-CD49-BDF4-57022D26D8C6}" destId="{F0E6C2C4-B8B9-F649-BB74-1E4ACDA0B83D}" srcOrd="1" destOrd="0" presId="urn:microsoft.com/office/officeart/2005/8/layout/pyramid1"/>
    <dgm:cxn modelId="{93AF06C4-C9D8-2441-AD4F-DF233D92515E}" type="presParOf" srcId="{F0E6C2C4-B8B9-F649-BB74-1E4ACDA0B83D}" destId="{7FC3910E-A560-5146-AF5D-FAF1C98F608C}" srcOrd="0" destOrd="0" presId="urn:microsoft.com/office/officeart/2005/8/layout/pyramid1"/>
    <dgm:cxn modelId="{1E39E38B-BE1A-F94D-8878-90D20F9CA8BB}" type="presParOf" srcId="{F0E6C2C4-B8B9-F649-BB74-1E4ACDA0B83D}" destId="{C218B24B-675C-064D-8716-0683DA79608B}" srcOrd="1" destOrd="0" presId="urn:microsoft.com/office/officeart/2005/8/layout/pyramid1"/>
    <dgm:cxn modelId="{953089D8-80F7-804C-B487-4A378E57ED0F}" type="presParOf" srcId="{6F5301DE-E527-CD49-BDF4-57022D26D8C6}" destId="{238493B9-BA60-FF43-9F87-7C65210A981B}" srcOrd="2" destOrd="0" presId="urn:microsoft.com/office/officeart/2005/8/layout/pyramid1"/>
    <dgm:cxn modelId="{1F768E80-D0FA-4E49-824B-4E51D8B8E892}" type="presParOf" srcId="{238493B9-BA60-FF43-9F87-7C65210A981B}" destId="{D1782D7B-0278-4247-9C00-DE71903E50D2}" srcOrd="0" destOrd="0" presId="urn:microsoft.com/office/officeart/2005/8/layout/pyramid1"/>
    <dgm:cxn modelId="{9E798E6D-B67B-EC48-A164-696639142D87}" type="presParOf" srcId="{238493B9-BA60-FF43-9F87-7C65210A981B}" destId="{D3F1EFF8-E82E-3E41-9A33-89DAC0D181E0}"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775994-9A6B-0F4A-AC61-71AEDC5149D6}" type="doc">
      <dgm:prSet loTypeId="urn:microsoft.com/office/officeart/2005/8/layout/pyramid3" loCatId="" qsTypeId="urn:microsoft.com/office/officeart/2005/8/quickstyle/simple1" qsCatId="simple" csTypeId="urn:microsoft.com/office/officeart/2005/8/colors/accent0_1" csCatId="mainScheme" phldr="1"/>
      <dgm:spPr/>
    </dgm:pt>
    <dgm:pt modelId="{0D33067E-4E70-5A4A-B43C-6747514FBB21}">
      <dgm:prSet phldrT="[Text]" custT="1"/>
      <dgm:spPr/>
      <dgm:t>
        <a:bodyPr anchor="ctr"/>
        <a:lstStyle/>
        <a:p>
          <a:pPr rtl="0"/>
          <a:r>
            <a:rPr lang="en-GB" sz="4000" dirty="0"/>
            <a:t>100% AI</a:t>
          </a:r>
        </a:p>
      </dgm:t>
    </dgm:pt>
    <dgm:pt modelId="{21BA0E88-13C4-9247-9FDA-F48B985F747A}" type="parTrans" cxnId="{373A4F55-0B3F-1340-8C88-98BD45755A24}">
      <dgm:prSet/>
      <dgm:spPr/>
      <dgm:t>
        <a:bodyPr/>
        <a:lstStyle/>
        <a:p>
          <a:endParaRPr lang="en-GB"/>
        </a:p>
      </dgm:t>
    </dgm:pt>
    <dgm:pt modelId="{6ACF96DF-6954-4B41-8029-3EBEBE4FB4A0}" type="sibTrans" cxnId="{373A4F55-0B3F-1340-8C88-98BD45755A24}">
      <dgm:prSet/>
      <dgm:spPr/>
      <dgm:t>
        <a:bodyPr/>
        <a:lstStyle/>
        <a:p>
          <a:endParaRPr lang="en-GB"/>
        </a:p>
      </dgm:t>
    </dgm:pt>
    <dgm:pt modelId="{84D69993-49DD-2C41-A31C-49814C81D89A}">
      <dgm:prSet phldrT="[Text]" custT="1"/>
      <dgm:spPr/>
      <dgm:t>
        <a:bodyPr/>
        <a:lstStyle/>
        <a:p>
          <a:r>
            <a:rPr lang="en-GB" sz="2400" dirty="0"/>
            <a:t>Less than 50% AI </a:t>
          </a:r>
        </a:p>
      </dgm:t>
    </dgm:pt>
    <dgm:pt modelId="{DA03E35D-DA61-7942-9FD2-4D54806C1442}" type="parTrans" cxnId="{6BA81321-0E63-0C43-A25F-EAD2E443DE81}">
      <dgm:prSet/>
      <dgm:spPr/>
      <dgm:t>
        <a:bodyPr/>
        <a:lstStyle/>
        <a:p>
          <a:endParaRPr lang="en-GB"/>
        </a:p>
      </dgm:t>
    </dgm:pt>
    <dgm:pt modelId="{2338DF53-1FCE-0244-9FA0-CEE53695618B}" type="sibTrans" cxnId="{6BA81321-0E63-0C43-A25F-EAD2E443DE81}">
      <dgm:prSet/>
      <dgm:spPr/>
      <dgm:t>
        <a:bodyPr/>
        <a:lstStyle/>
        <a:p>
          <a:endParaRPr lang="en-GB"/>
        </a:p>
      </dgm:t>
    </dgm:pt>
    <dgm:pt modelId="{29458515-58B1-6249-842A-E728A66EA2DC}">
      <dgm:prSet phldrT="[Text]" custT="1"/>
      <dgm:spPr/>
      <dgm:t>
        <a:bodyPr anchor="t"/>
        <a:lstStyle/>
        <a:p>
          <a:pPr rtl="0"/>
          <a:r>
            <a:rPr lang="en-GB" sz="2800" dirty="0"/>
            <a:t>No AI</a:t>
          </a:r>
        </a:p>
      </dgm:t>
    </dgm:pt>
    <dgm:pt modelId="{FABA6372-364C-9840-B51A-3802DD781C9E}" type="parTrans" cxnId="{78981690-E0D2-DA48-8E5A-A4D238C6C0B2}">
      <dgm:prSet/>
      <dgm:spPr/>
      <dgm:t>
        <a:bodyPr/>
        <a:lstStyle/>
        <a:p>
          <a:endParaRPr lang="en-GB"/>
        </a:p>
      </dgm:t>
    </dgm:pt>
    <dgm:pt modelId="{457AF2F5-8637-2E43-9A76-ED6A69B3D427}" type="sibTrans" cxnId="{78981690-E0D2-DA48-8E5A-A4D238C6C0B2}">
      <dgm:prSet/>
      <dgm:spPr/>
      <dgm:t>
        <a:bodyPr/>
        <a:lstStyle/>
        <a:p>
          <a:endParaRPr lang="en-GB"/>
        </a:p>
      </dgm:t>
    </dgm:pt>
    <dgm:pt modelId="{D3838C16-92B7-E24B-B2D3-BE611C57CE1C}" type="pres">
      <dgm:prSet presAssocID="{FF775994-9A6B-0F4A-AC61-71AEDC5149D6}" presName="Name0" presStyleCnt="0">
        <dgm:presLayoutVars>
          <dgm:dir/>
          <dgm:animLvl val="lvl"/>
          <dgm:resizeHandles val="exact"/>
        </dgm:presLayoutVars>
      </dgm:prSet>
      <dgm:spPr/>
    </dgm:pt>
    <dgm:pt modelId="{1301291F-CFD0-6D4D-94DF-FF3790A5B008}" type="pres">
      <dgm:prSet presAssocID="{0D33067E-4E70-5A4A-B43C-6747514FBB21}" presName="Name8" presStyleCnt="0"/>
      <dgm:spPr/>
    </dgm:pt>
    <dgm:pt modelId="{FF6C2629-70CC-D94E-A16D-F74EADDF6482}" type="pres">
      <dgm:prSet presAssocID="{0D33067E-4E70-5A4A-B43C-6747514FBB21}" presName="level" presStyleLbl="node1" presStyleIdx="0" presStyleCnt="3">
        <dgm:presLayoutVars>
          <dgm:chMax val="1"/>
          <dgm:bulletEnabled val="1"/>
        </dgm:presLayoutVars>
      </dgm:prSet>
      <dgm:spPr/>
    </dgm:pt>
    <dgm:pt modelId="{77B15958-5E7B-E947-98D6-4DD941011C00}" type="pres">
      <dgm:prSet presAssocID="{0D33067E-4E70-5A4A-B43C-6747514FBB21}" presName="levelTx" presStyleLbl="revTx" presStyleIdx="0" presStyleCnt="0">
        <dgm:presLayoutVars>
          <dgm:chMax val="1"/>
          <dgm:bulletEnabled val="1"/>
        </dgm:presLayoutVars>
      </dgm:prSet>
      <dgm:spPr/>
    </dgm:pt>
    <dgm:pt modelId="{D6AB2C8E-AF65-164A-AEB7-C98A40D1FACA}" type="pres">
      <dgm:prSet presAssocID="{84D69993-49DD-2C41-A31C-49814C81D89A}" presName="Name8" presStyleCnt="0"/>
      <dgm:spPr/>
    </dgm:pt>
    <dgm:pt modelId="{BA43DA72-37B6-044E-A202-850D8AD4EFB7}" type="pres">
      <dgm:prSet presAssocID="{84D69993-49DD-2C41-A31C-49814C81D89A}" presName="level" presStyleLbl="node1" presStyleIdx="1" presStyleCnt="3">
        <dgm:presLayoutVars>
          <dgm:chMax val="1"/>
          <dgm:bulletEnabled val="1"/>
        </dgm:presLayoutVars>
      </dgm:prSet>
      <dgm:spPr/>
    </dgm:pt>
    <dgm:pt modelId="{F813C292-4DC9-7E4C-95D3-4BC5496BCE21}" type="pres">
      <dgm:prSet presAssocID="{84D69993-49DD-2C41-A31C-49814C81D89A}" presName="levelTx" presStyleLbl="revTx" presStyleIdx="0" presStyleCnt="0">
        <dgm:presLayoutVars>
          <dgm:chMax val="1"/>
          <dgm:bulletEnabled val="1"/>
        </dgm:presLayoutVars>
      </dgm:prSet>
      <dgm:spPr/>
    </dgm:pt>
    <dgm:pt modelId="{8B33C012-3E03-F24C-BD67-BAFAF48CF5AB}" type="pres">
      <dgm:prSet presAssocID="{29458515-58B1-6249-842A-E728A66EA2DC}" presName="Name8" presStyleCnt="0"/>
      <dgm:spPr/>
    </dgm:pt>
    <dgm:pt modelId="{93936B4C-D551-8E41-AC4C-826243A671E6}" type="pres">
      <dgm:prSet presAssocID="{29458515-58B1-6249-842A-E728A66EA2DC}" presName="level" presStyleLbl="node1" presStyleIdx="2" presStyleCnt="3">
        <dgm:presLayoutVars>
          <dgm:chMax val="1"/>
          <dgm:bulletEnabled val="1"/>
        </dgm:presLayoutVars>
      </dgm:prSet>
      <dgm:spPr/>
    </dgm:pt>
    <dgm:pt modelId="{A53932A6-9F1A-934F-BC20-A9CFB9F8266A}" type="pres">
      <dgm:prSet presAssocID="{29458515-58B1-6249-842A-E728A66EA2DC}" presName="levelTx" presStyleLbl="revTx" presStyleIdx="0" presStyleCnt="0">
        <dgm:presLayoutVars>
          <dgm:chMax val="1"/>
          <dgm:bulletEnabled val="1"/>
        </dgm:presLayoutVars>
      </dgm:prSet>
      <dgm:spPr/>
    </dgm:pt>
  </dgm:ptLst>
  <dgm:cxnLst>
    <dgm:cxn modelId="{E924E313-E2AB-1547-80E8-7C76B65A50F4}" type="presOf" srcId="{84D69993-49DD-2C41-A31C-49814C81D89A}" destId="{BA43DA72-37B6-044E-A202-850D8AD4EFB7}" srcOrd="0" destOrd="0" presId="urn:microsoft.com/office/officeart/2005/8/layout/pyramid3"/>
    <dgm:cxn modelId="{6BA81321-0E63-0C43-A25F-EAD2E443DE81}" srcId="{FF775994-9A6B-0F4A-AC61-71AEDC5149D6}" destId="{84D69993-49DD-2C41-A31C-49814C81D89A}" srcOrd="1" destOrd="0" parTransId="{DA03E35D-DA61-7942-9FD2-4D54806C1442}" sibTransId="{2338DF53-1FCE-0244-9FA0-CEE53695618B}"/>
    <dgm:cxn modelId="{373A4F55-0B3F-1340-8C88-98BD45755A24}" srcId="{FF775994-9A6B-0F4A-AC61-71AEDC5149D6}" destId="{0D33067E-4E70-5A4A-B43C-6747514FBB21}" srcOrd="0" destOrd="0" parTransId="{21BA0E88-13C4-9247-9FDA-F48B985F747A}" sibTransId="{6ACF96DF-6954-4B41-8029-3EBEBE4FB4A0}"/>
    <dgm:cxn modelId="{E119D869-64A8-6748-8895-4ED9F18B972F}" type="presOf" srcId="{0D33067E-4E70-5A4A-B43C-6747514FBB21}" destId="{77B15958-5E7B-E947-98D6-4DD941011C00}" srcOrd="1" destOrd="0" presId="urn:microsoft.com/office/officeart/2005/8/layout/pyramid3"/>
    <dgm:cxn modelId="{9925737A-FF2B-6449-8315-2158F010DBF5}" type="presOf" srcId="{FF775994-9A6B-0F4A-AC61-71AEDC5149D6}" destId="{D3838C16-92B7-E24B-B2D3-BE611C57CE1C}" srcOrd="0" destOrd="0" presId="urn:microsoft.com/office/officeart/2005/8/layout/pyramid3"/>
    <dgm:cxn modelId="{78981690-E0D2-DA48-8E5A-A4D238C6C0B2}" srcId="{FF775994-9A6B-0F4A-AC61-71AEDC5149D6}" destId="{29458515-58B1-6249-842A-E728A66EA2DC}" srcOrd="2" destOrd="0" parTransId="{FABA6372-364C-9840-B51A-3802DD781C9E}" sibTransId="{457AF2F5-8637-2E43-9A76-ED6A69B3D427}"/>
    <dgm:cxn modelId="{02E2F79C-5BB8-9546-8035-FE5B9744CF8C}" type="presOf" srcId="{29458515-58B1-6249-842A-E728A66EA2DC}" destId="{93936B4C-D551-8E41-AC4C-826243A671E6}" srcOrd="0" destOrd="0" presId="urn:microsoft.com/office/officeart/2005/8/layout/pyramid3"/>
    <dgm:cxn modelId="{0F39E3A9-D09B-934C-A859-CBA05B03D317}" type="presOf" srcId="{0D33067E-4E70-5A4A-B43C-6747514FBB21}" destId="{FF6C2629-70CC-D94E-A16D-F74EADDF6482}" srcOrd="0" destOrd="0" presId="urn:microsoft.com/office/officeart/2005/8/layout/pyramid3"/>
    <dgm:cxn modelId="{09A229B3-AF3E-384A-8F46-7640048D4F37}" type="presOf" srcId="{29458515-58B1-6249-842A-E728A66EA2DC}" destId="{A53932A6-9F1A-934F-BC20-A9CFB9F8266A}" srcOrd="1" destOrd="0" presId="urn:microsoft.com/office/officeart/2005/8/layout/pyramid3"/>
    <dgm:cxn modelId="{65BA4ED6-5972-1D4C-98D7-51BA1E4C885A}" type="presOf" srcId="{84D69993-49DD-2C41-A31C-49814C81D89A}" destId="{F813C292-4DC9-7E4C-95D3-4BC5496BCE21}" srcOrd="1" destOrd="0" presId="urn:microsoft.com/office/officeart/2005/8/layout/pyramid3"/>
    <dgm:cxn modelId="{A7C3614E-A16B-C44D-A9E1-C90D5DF8FE71}" type="presParOf" srcId="{D3838C16-92B7-E24B-B2D3-BE611C57CE1C}" destId="{1301291F-CFD0-6D4D-94DF-FF3790A5B008}" srcOrd="0" destOrd="0" presId="urn:microsoft.com/office/officeart/2005/8/layout/pyramid3"/>
    <dgm:cxn modelId="{4313CFA1-1E59-0445-A092-05FFCE9BAFD1}" type="presParOf" srcId="{1301291F-CFD0-6D4D-94DF-FF3790A5B008}" destId="{FF6C2629-70CC-D94E-A16D-F74EADDF6482}" srcOrd="0" destOrd="0" presId="urn:microsoft.com/office/officeart/2005/8/layout/pyramid3"/>
    <dgm:cxn modelId="{384E8368-EA90-D24E-9258-979F432B686B}" type="presParOf" srcId="{1301291F-CFD0-6D4D-94DF-FF3790A5B008}" destId="{77B15958-5E7B-E947-98D6-4DD941011C00}" srcOrd="1" destOrd="0" presId="urn:microsoft.com/office/officeart/2005/8/layout/pyramid3"/>
    <dgm:cxn modelId="{EC5DE393-C81B-AA48-A9CB-EBD8EEF6ACA0}" type="presParOf" srcId="{D3838C16-92B7-E24B-B2D3-BE611C57CE1C}" destId="{D6AB2C8E-AF65-164A-AEB7-C98A40D1FACA}" srcOrd="1" destOrd="0" presId="urn:microsoft.com/office/officeart/2005/8/layout/pyramid3"/>
    <dgm:cxn modelId="{547A9EBE-AAA4-1C48-ACAC-B9236633FFD2}" type="presParOf" srcId="{D6AB2C8E-AF65-164A-AEB7-C98A40D1FACA}" destId="{BA43DA72-37B6-044E-A202-850D8AD4EFB7}" srcOrd="0" destOrd="0" presId="urn:microsoft.com/office/officeart/2005/8/layout/pyramid3"/>
    <dgm:cxn modelId="{7830301A-F74A-8B49-8F01-5C1B507B372B}" type="presParOf" srcId="{D6AB2C8E-AF65-164A-AEB7-C98A40D1FACA}" destId="{F813C292-4DC9-7E4C-95D3-4BC5496BCE21}" srcOrd="1" destOrd="0" presId="urn:microsoft.com/office/officeart/2005/8/layout/pyramid3"/>
    <dgm:cxn modelId="{A0009716-1590-9B45-A5BA-F291C74EAC23}" type="presParOf" srcId="{D3838C16-92B7-E24B-B2D3-BE611C57CE1C}" destId="{8B33C012-3E03-F24C-BD67-BAFAF48CF5AB}" srcOrd="2" destOrd="0" presId="urn:microsoft.com/office/officeart/2005/8/layout/pyramid3"/>
    <dgm:cxn modelId="{94A79C98-0928-FE4A-8C59-D9B63FA6542E}" type="presParOf" srcId="{8B33C012-3E03-F24C-BD67-BAFAF48CF5AB}" destId="{93936B4C-D551-8E41-AC4C-826243A671E6}" srcOrd="0" destOrd="0" presId="urn:microsoft.com/office/officeart/2005/8/layout/pyramid3"/>
    <dgm:cxn modelId="{7C43CA0B-AEC8-854A-9102-49B9EC616145}" type="presParOf" srcId="{8B33C012-3E03-F24C-BD67-BAFAF48CF5AB}" destId="{A53932A6-9F1A-934F-BC20-A9CFB9F8266A}" srcOrd="1" destOrd="0" presId="urn:microsoft.com/office/officeart/2005/8/layout/pyramid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86B14-73C0-AF43-A0E7-0E6C8E2D6F19}">
      <dsp:nvSpPr>
        <dsp:cNvPr id="0" name=""/>
        <dsp:cNvSpPr/>
      </dsp:nvSpPr>
      <dsp:spPr>
        <a:xfrm>
          <a:off x="1888657" y="0"/>
          <a:ext cx="1888657" cy="961589"/>
        </a:xfrm>
        <a:prstGeom prst="trapezoid">
          <a:avLst>
            <a:gd name="adj" fmla="val 98205"/>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b" anchorCtr="0">
          <a:noAutofit/>
        </a:bodyPr>
        <a:lstStyle/>
        <a:p>
          <a:pPr marL="0" lvl="0" indent="0" algn="ctr" defTabSz="1066800" rtl="0">
            <a:lnSpc>
              <a:spcPct val="90000"/>
            </a:lnSpc>
            <a:spcBef>
              <a:spcPct val="0"/>
            </a:spcBef>
            <a:spcAft>
              <a:spcPct val="35000"/>
            </a:spcAft>
            <a:buNone/>
          </a:pPr>
          <a:r>
            <a:rPr lang="en-GB" sz="2400" kern="1200" dirty="0"/>
            <a:t>100% AI</a:t>
          </a:r>
        </a:p>
      </dsp:txBody>
      <dsp:txXfrm>
        <a:off x="1888657" y="0"/>
        <a:ext cx="1888657" cy="961589"/>
      </dsp:txXfrm>
    </dsp:sp>
    <dsp:sp modelId="{7FC3910E-A560-5146-AF5D-FAF1C98F608C}">
      <dsp:nvSpPr>
        <dsp:cNvPr id="0" name=""/>
        <dsp:cNvSpPr/>
      </dsp:nvSpPr>
      <dsp:spPr>
        <a:xfrm>
          <a:off x="944328" y="961590"/>
          <a:ext cx="3777314" cy="961589"/>
        </a:xfrm>
        <a:prstGeom prst="trapezoid">
          <a:avLst>
            <a:gd name="adj" fmla="val 98205"/>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t>Less than 50% AI </a:t>
          </a:r>
        </a:p>
      </dsp:txBody>
      <dsp:txXfrm>
        <a:off x="1605358" y="961590"/>
        <a:ext cx="2455254" cy="961589"/>
      </dsp:txXfrm>
    </dsp:sp>
    <dsp:sp modelId="{D1782D7B-0278-4247-9C00-DE71903E50D2}">
      <dsp:nvSpPr>
        <dsp:cNvPr id="0" name=""/>
        <dsp:cNvSpPr/>
      </dsp:nvSpPr>
      <dsp:spPr>
        <a:xfrm>
          <a:off x="0" y="1923179"/>
          <a:ext cx="5665972" cy="961589"/>
        </a:xfrm>
        <a:prstGeom prst="trapezoid">
          <a:avLst>
            <a:gd name="adj" fmla="val 98205"/>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2578100" rtl="0">
            <a:lnSpc>
              <a:spcPct val="90000"/>
            </a:lnSpc>
            <a:spcBef>
              <a:spcPct val="0"/>
            </a:spcBef>
            <a:spcAft>
              <a:spcPct val="35000"/>
            </a:spcAft>
            <a:buNone/>
          </a:pPr>
          <a:r>
            <a:rPr lang="en-GB" sz="5800" kern="1200" dirty="0"/>
            <a:t>No AI</a:t>
          </a:r>
        </a:p>
      </dsp:txBody>
      <dsp:txXfrm>
        <a:off x="991545" y="1923179"/>
        <a:ext cx="3682881" cy="961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C2629-70CC-D94E-A16D-F74EADDF6482}">
      <dsp:nvSpPr>
        <dsp:cNvPr id="0" name=""/>
        <dsp:cNvSpPr/>
      </dsp:nvSpPr>
      <dsp:spPr>
        <a:xfrm rot="10800000">
          <a:off x="0" y="0"/>
          <a:ext cx="5665972" cy="961589"/>
        </a:xfrm>
        <a:prstGeom prst="trapezoid">
          <a:avLst>
            <a:gd name="adj" fmla="val 98205"/>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rtl="0">
            <a:lnSpc>
              <a:spcPct val="90000"/>
            </a:lnSpc>
            <a:spcBef>
              <a:spcPct val="0"/>
            </a:spcBef>
            <a:spcAft>
              <a:spcPct val="35000"/>
            </a:spcAft>
            <a:buNone/>
          </a:pPr>
          <a:r>
            <a:rPr lang="en-GB" sz="4000" kern="1200" dirty="0"/>
            <a:t>100% AI</a:t>
          </a:r>
        </a:p>
      </dsp:txBody>
      <dsp:txXfrm rot="-10800000">
        <a:off x="991545" y="0"/>
        <a:ext cx="3682881" cy="961589"/>
      </dsp:txXfrm>
    </dsp:sp>
    <dsp:sp modelId="{BA43DA72-37B6-044E-A202-850D8AD4EFB7}">
      <dsp:nvSpPr>
        <dsp:cNvPr id="0" name=""/>
        <dsp:cNvSpPr/>
      </dsp:nvSpPr>
      <dsp:spPr>
        <a:xfrm rot="10800000">
          <a:off x="944328" y="961590"/>
          <a:ext cx="3777314" cy="961589"/>
        </a:xfrm>
        <a:prstGeom prst="trapezoid">
          <a:avLst>
            <a:gd name="adj" fmla="val 98205"/>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t>Less than 50% AI </a:t>
          </a:r>
        </a:p>
      </dsp:txBody>
      <dsp:txXfrm rot="-10800000">
        <a:off x="1605358" y="961590"/>
        <a:ext cx="2455254" cy="961589"/>
      </dsp:txXfrm>
    </dsp:sp>
    <dsp:sp modelId="{93936B4C-D551-8E41-AC4C-826243A671E6}">
      <dsp:nvSpPr>
        <dsp:cNvPr id="0" name=""/>
        <dsp:cNvSpPr/>
      </dsp:nvSpPr>
      <dsp:spPr>
        <a:xfrm rot="10800000">
          <a:off x="1888657" y="1923179"/>
          <a:ext cx="1888657" cy="961589"/>
        </a:xfrm>
        <a:prstGeom prst="trapezoid">
          <a:avLst>
            <a:gd name="adj" fmla="val 98205"/>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t" anchorCtr="0">
          <a:noAutofit/>
        </a:bodyPr>
        <a:lstStyle/>
        <a:p>
          <a:pPr marL="0" lvl="0" indent="0" algn="ctr" defTabSz="1244600" rtl="0">
            <a:lnSpc>
              <a:spcPct val="90000"/>
            </a:lnSpc>
            <a:spcBef>
              <a:spcPct val="0"/>
            </a:spcBef>
            <a:spcAft>
              <a:spcPct val="35000"/>
            </a:spcAft>
            <a:buNone/>
          </a:pPr>
          <a:r>
            <a:rPr lang="en-GB" sz="2800" kern="1200" dirty="0"/>
            <a:t>No AI</a:t>
          </a:r>
        </a:p>
      </dsp:txBody>
      <dsp:txXfrm rot="-10800000">
        <a:off x="1888657" y="1923179"/>
        <a:ext cx="1888657" cy="96158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52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intro, then: 'This talk is not about my research. It's about YOUR research — and how AI just rewrote the rules.'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 max. Egyptian who did the journey they're dreaming of: Nile University → exchanges → PhD in the UK → QMUL. 'And I build things with AI — more on that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Pause after the number. 'This year, the world's biggest AI conference hid secret messages inside papers — and caught 506 reviewers letting AI do their reviewing.'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Slow, one line: 'And one day, one of them might be reviewing YOUR paper.'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Hands up: used AI in your project? Keep them up — 'keep it up if you'd say so publicly'. Watch hands drop. That gap is the talk.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 seconds: 'Four stops, then a toolkit you take home.'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where every paper starts: writing.'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positive that lands here: 'For the first time ever, a student in Cairo can write like a student in Cambridge. English is no longer the gatekeeper — ideas are.'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'But AI invents references that don't exist — confidently, with page numbers. People submitted them. Retractions happened.'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Audience votes A or B. Reveal, then: 'If you can't tell — neither can your reviewers.'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your critic, not your ghostwriter. Prompt: attack my argument. And verify every citation — no exceptions.'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other side of the table: what happens after you submit.'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15.8% of ICLR 2024 reviews were LLM-assisted. Hivemind effect: AI reviewers converge on one opinion. If everyone uses the same model, diversity of thought dies.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Counter-story: same tech caught 398 cheating reviewers across 10,000 papers. 83% of top journals now have AI policies. The system adapts.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will say no. 'So don't let it review for you — use it to attack your draft before humans do.'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any human sees your draft, AI plays the harsh reviewer. It finds holes at 2am. YOU decide what to fix.'</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'Writing and reviewing are the paper. Funding is the fuel. And many of you want to go abroad.'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True story: Alan Turing Institute grant co-written in under a week. Small teams compete with big labs now. BUT: funders require disclosure — hiding AI use is the career risk, not using it.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any lab: how do you verify AI output? Their answer tells you everything.' Routes: scholarships, GTA/RA, exchanges — 'I did all of them. Ask me how in Q&amp;A.'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honest part. My PhD — exactly the years AI became capable.'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2023: lit review by hand. 2026: AI agents that train other AIs. 'The tool changed. The researcher didn't — I still choose the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AI never touched: the question, the writing, the supervisor. Invest there.'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each rule slowly. These six rules are the whole talk on one slide.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free. Find: Semantic Scholar/Elicit. Read: AI explains, you verify. Build: Colab free GPUs. Write: you draft, AI edits.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Commitment: 'Pick ONE rule. Hands up — who takes rule 2? Rule 6? Apply it to your summit project this week.'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Max 30 seconds: 'Rule 6 is my favourite — here's my proof. 27 games, chat, matchmaking — built entirely with AI, alone. Scan, play your neighbor, top score tonight wins [prize].'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up for ALL 10 minutes. The QR keeps working while you answer.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920240"/>
            <a:ext cx="10362895" cy="457200"/>
          </a:xfrm>
          <a:prstGeom prst="rect">
            <a:avLst/>
          </a:prstGeom>
          <a:noFill/>
        </p:spPr>
        <p:txBody>
          <a:bodyPr wrap="square" anchor="ctr">
            <a:spAutoFit/>
          </a:bodyPr>
          <a:lstStyle/>
          <a:p>
            <a:pPr algn="ctr"/>
            <a:r>
              <a:rPr sz="1400" b="1">
                <a:solidFill>
                  <a:srgbClr val="9AA7B4"/>
                </a:solidFill>
                <a:latin typeface="Helvetica Neue"/>
              </a:rPr>
              <a:t>UNIVERSITY INNOVATION SUMMIT</a:t>
            </a:r>
          </a:p>
        </p:txBody>
      </p:sp>
      <p:sp>
        <p:nvSpPr>
          <p:cNvPr id="3" name="TextBox 2"/>
          <p:cNvSpPr txBox="1"/>
          <p:nvPr/>
        </p:nvSpPr>
        <p:spPr>
          <a:xfrm>
            <a:off x="640080" y="2468880"/>
            <a:ext cx="10911535" cy="1188720"/>
          </a:xfrm>
          <a:prstGeom prst="rect">
            <a:avLst/>
          </a:prstGeom>
          <a:noFill/>
        </p:spPr>
        <p:txBody>
          <a:bodyPr wrap="square" anchor="ctr">
            <a:spAutoFit/>
          </a:bodyPr>
          <a:lstStyle/>
          <a:p>
            <a:pPr algn="ctr"/>
            <a:r>
              <a:rPr sz="4400" b="1">
                <a:solidFill>
                  <a:srgbClr val="F2F5F9"/>
                </a:solidFill>
                <a:latin typeface="Helvetica Neue"/>
              </a:rPr>
              <a:t>Research in the Age of </a:t>
            </a:r>
            <a:r>
              <a:rPr sz="4400" b="1">
                <a:solidFill>
                  <a:srgbClr val="F0B429"/>
                </a:solidFill>
                <a:latin typeface="Helvetica Neue"/>
              </a:rPr>
              <a:t>Capable AI</a:t>
            </a:r>
          </a:p>
        </p:txBody>
      </p:sp>
      <p:sp>
        <p:nvSpPr>
          <p:cNvPr id="4" name="TextBox 3"/>
          <p:cNvSpPr txBox="1"/>
          <p:nvPr/>
        </p:nvSpPr>
        <p:spPr>
          <a:xfrm>
            <a:off x="640080" y="4006185"/>
            <a:ext cx="10911535" cy="400110"/>
          </a:xfrm>
          <a:prstGeom prst="rect">
            <a:avLst/>
          </a:prstGeom>
          <a:noFill/>
        </p:spPr>
        <p:txBody>
          <a:bodyPr wrap="square" anchor="ctr">
            <a:spAutoFit/>
          </a:bodyPr>
          <a:lstStyle/>
          <a:p>
            <a:pPr algn="ctr"/>
            <a:r>
              <a:rPr sz="2000" b="0" dirty="0">
                <a:solidFill>
                  <a:srgbClr val="9AA7B4"/>
                </a:solidFill>
                <a:latin typeface="Helvetica Neue"/>
              </a:rPr>
              <a:t>Adel </a:t>
            </a:r>
            <a:r>
              <a:rPr lang="en-US" sz="2000" b="0" dirty="0">
                <a:solidFill>
                  <a:srgbClr val="9AA7B4"/>
                </a:solidFill>
                <a:latin typeface="Helvetica Neue"/>
              </a:rPr>
              <a:t>Samir</a:t>
            </a:r>
            <a:endParaRPr sz="2000" b="0" dirty="0">
              <a:solidFill>
                <a:srgbClr val="9AA7B4"/>
              </a:solidFill>
              <a:latin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6D5F94-B1EE-189A-8314-5A56552E93CC}"/>
              </a:ext>
            </a:extLst>
          </p:cNvPr>
          <p:cNvPicPr>
            <a:picLocks noChangeAspect="1"/>
          </p:cNvPicPr>
          <p:nvPr/>
        </p:nvPicPr>
        <p:blipFill>
          <a:blip r:embed="rId3"/>
          <a:stretch>
            <a:fillRect/>
          </a:stretch>
        </p:blipFill>
        <p:spPr>
          <a:xfrm>
            <a:off x="1280160" y="2011680"/>
            <a:ext cx="2834640" cy="2834640"/>
          </a:xfrm>
          <a:prstGeom prst="ellipse">
            <a:avLst/>
          </a:prstGeom>
        </p:spPr>
      </p:pic>
      <p:sp>
        <p:nvSpPr>
          <p:cNvPr id="2" name="Oval 1"/>
          <p:cNvSpPr/>
          <p:nvPr/>
        </p:nvSpPr>
        <p:spPr>
          <a:xfrm>
            <a:off x="1280160" y="2011680"/>
            <a:ext cx="2834640" cy="2834640"/>
          </a:xfrm>
          <a:prstGeom prst="ellipse">
            <a:avLst/>
          </a:prstGeom>
          <a:noFill/>
          <a:ln w="38100">
            <a:solidFill>
              <a:srgbClr val="F0B4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solidFill>
                <a:srgbClr val="546274"/>
              </a:solidFill>
              <a:latin typeface="Helvetica Neue"/>
            </a:endParaRPr>
          </a:p>
        </p:txBody>
      </p:sp>
      <p:sp>
        <p:nvSpPr>
          <p:cNvPr id="3" name="TextBox 2"/>
          <p:cNvSpPr txBox="1"/>
          <p:nvPr/>
        </p:nvSpPr>
        <p:spPr>
          <a:xfrm>
            <a:off x="4754880" y="2192317"/>
            <a:ext cx="6675120" cy="2564805"/>
          </a:xfrm>
          <a:prstGeom prst="rect">
            <a:avLst/>
          </a:prstGeom>
          <a:noFill/>
        </p:spPr>
        <p:txBody>
          <a:bodyPr wrap="square" anchor="ctr">
            <a:spAutoFit/>
          </a:bodyPr>
          <a:lstStyle/>
          <a:p>
            <a:pPr algn="l">
              <a:spcAft>
                <a:spcPts val="1400"/>
              </a:spcAft>
            </a:pPr>
            <a:r>
              <a:rPr sz="2600" b="1" dirty="0">
                <a:solidFill>
                  <a:srgbClr val="F0B429"/>
                </a:solidFill>
                <a:latin typeface="Helvetica Neue"/>
              </a:rPr>
              <a:t>Adel Samir ElZemity</a:t>
            </a:r>
          </a:p>
          <a:p>
            <a:pPr algn="l">
              <a:spcAft>
                <a:spcPts val="1400"/>
              </a:spcAft>
            </a:pPr>
            <a:r>
              <a:rPr sz="2200" b="1" dirty="0">
                <a:solidFill>
                  <a:srgbClr val="F2F5F9"/>
                </a:solidFill>
                <a:latin typeface="Helvetica Neue"/>
              </a:rPr>
              <a:t>Computer Engineer · AI Security Researcher</a:t>
            </a:r>
          </a:p>
          <a:p>
            <a:pPr algn="l">
              <a:spcAft>
                <a:spcPts val="1400"/>
              </a:spcAft>
            </a:pPr>
            <a:r>
              <a:rPr lang="en-US" sz="2200" b="1" dirty="0">
                <a:solidFill>
                  <a:srgbClr val="F2F5F9"/>
                </a:solidFill>
                <a:latin typeface="Helvetica Neue"/>
              </a:rPr>
              <a:t>AI </a:t>
            </a:r>
            <a:r>
              <a:rPr sz="2200" b="1" dirty="0">
                <a:solidFill>
                  <a:srgbClr val="F2F5F9"/>
                </a:solidFill>
                <a:latin typeface="Helvetica Neue"/>
              </a:rPr>
              <a:t>Product Builder</a:t>
            </a:r>
          </a:p>
          <a:p>
            <a:pPr algn="l">
              <a:spcAft>
                <a:spcPts val="1400"/>
              </a:spcAft>
            </a:pPr>
            <a:r>
              <a:rPr sz="2200" b="1" dirty="0">
                <a:solidFill>
                  <a:srgbClr val="F2F5F9"/>
                </a:solidFill>
                <a:latin typeface="Helvetica Neue"/>
              </a:rPr>
              <a:t>PhD — University of Kent</a:t>
            </a:r>
          </a:p>
          <a:p>
            <a:pPr algn="l">
              <a:spcAft>
                <a:spcPts val="1400"/>
              </a:spcAft>
            </a:pPr>
            <a:r>
              <a:rPr sz="2200" b="1" dirty="0">
                <a:solidFill>
                  <a:srgbClr val="F2F5F9"/>
                </a:solidFill>
                <a:latin typeface="Helvetica Neue"/>
              </a:rPr>
              <a:t>AI Security @ Queen Mary University of London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640080"/>
            <a:ext cx="10362895" cy="457200"/>
          </a:xfrm>
          <a:prstGeom prst="rect">
            <a:avLst/>
          </a:prstGeom>
          <a:noFill/>
        </p:spPr>
        <p:txBody>
          <a:bodyPr wrap="square" anchor="ctr">
            <a:spAutoFit/>
          </a:bodyPr>
          <a:lstStyle/>
          <a:p>
            <a:pPr algn="ctr"/>
            <a:r>
              <a:rPr sz="1400" b="1">
                <a:solidFill>
                  <a:srgbClr val="F85149"/>
                </a:solidFill>
                <a:latin typeface="Helvetica Neue"/>
              </a:rPr>
              <a:t>ICML 2026</a:t>
            </a:r>
          </a:p>
        </p:txBody>
      </p:sp>
      <p:sp>
        <p:nvSpPr>
          <p:cNvPr id="3" name="TextBox 2"/>
          <p:cNvSpPr txBox="1"/>
          <p:nvPr/>
        </p:nvSpPr>
        <p:spPr>
          <a:xfrm>
            <a:off x="640080" y="1097280"/>
            <a:ext cx="10911535" cy="2194560"/>
          </a:xfrm>
          <a:prstGeom prst="rect">
            <a:avLst/>
          </a:prstGeom>
          <a:noFill/>
        </p:spPr>
        <p:txBody>
          <a:bodyPr wrap="square" anchor="ctr">
            <a:spAutoFit/>
          </a:bodyPr>
          <a:lstStyle/>
          <a:p>
            <a:pPr algn="ctr"/>
            <a:r>
              <a:rPr sz="15000" b="1">
                <a:solidFill>
                  <a:srgbClr val="F0B429"/>
                </a:solidFill>
                <a:latin typeface="Helvetica Neue"/>
              </a:rPr>
              <a:t>506</a:t>
            </a:r>
          </a:p>
        </p:txBody>
      </p:sp>
      <p:sp>
        <p:nvSpPr>
          <p:cNvPr id="4" name="TextBox 3"/>
          <p:cNvSpPr txBox="1"/>
          <p:nvPr/>
        </p:nvSpPr>
        <p:spPr>
          <a:xfrm>
            <a:off x="640080" y="3291840"/>
            <a:ext cx="10911535" cy="822960"/>
          </a:xfrm>
          <a:prstGeom prst="rect">
            <a:avLst/>
          </a:prstGeom>
          <a:noFill/>
        </p:spPr>
        <p:txBody>
          <a:bodyPr wrap="square" anchor="ctr">
            <a:spAutoFit/>
          </a:bodyPr>
          <a:lstStyle/>
          <a:p>
            <a:pPr algn="ctr"/>
            <a:r>
              <a:rPr sz="3200" b="1">
                <a:solidFill>
                  <a:srgbClr val="F2F5F9"/>
                </a:solidFill>
                <a:latin typeface="Helvetica Neue"/>
              </a:rPr>
              <a:t>reviewers caught letting </a:t>
            </a:r>
            <a:r>
              <a:rPr sz="3200" b="1">
                <a:solidFill>
                  <a:srgbClr val="F85149"/>
                </a:solidFill>
                <a:latin typeface="Helvetica Neue"/>
              </a:rPr>
              <a:t>AI do their reviewing</a:t>
            </a:r>
          </a:p>
        </p:txBody>
      </p:sp>
      <p:pic>
        <p:nvPicPr>
          <p:cNvPr id="7" name="Picture 6">
            <a:extLst>
              <a:ext uri="{FF2B5EF4-FFF2-40B4-BE49-F238E27FC236}">
                <a16:creationId xmlns:a16="http://schemas.microsoft.com/office/drawing/2014/main" id="{C9C2D736-1377-2AD1-BB92-40B973BF1173}"/>
              </a:ext>
            </a:extLst>
          </p:cNvPr>
          <p:cNvPicPr>
            <a:picLocks noChangeAspect="1"/>
          </p:cNvPicPr>
          <p:nvPr/>
        </p:nvPicPr>
        <p:blipFill>
          <a:blip r:embed="rId3"/>
          <a:stretch>
            <a:fillRect/>
          </a:stretch>
        </p:blipFill>
        <p:spPr>
          <a:xfrm>
            <a:off x="4089769" y="4316442"/>
            <a:ext cx="4012462" cy="23399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834640"/>
            <a:ext cx="10911535" cy="1097280"/>
          </a:xfrm>
          <a:prstGeom prst="rect">
            <a:avLst/>
          </a:prstGeom>
          <a:noFill/>
        </p:spPr>
        <p:txBody>
          <a:bodyPr wrap="square" anchor="ctr">
            <a:spAutoFit/>
          </a:bodyPr>
          <a:lstStyle/>
          <a:p>
            <a:pPr algn="ctr"/>
            <a:r>
              <a:rPr sz="4000" b="1">
                <a:solidFill>
                  <a:srgbClr val="F2F5F9"/>
                </a:solidFill>
                <a:latin typeface="Helvetica Neue"/>
              </a:rPr>
              <a:t>One of them might review </a:t>
            </a:r>
            <a:r>
              <a:rPr sz="4000" b="1">
                <a:solidFill>
                  <a:srgbClr val="F0B429"/>
                </a:solidFill>
                <a:latin typeface="Helvetica Neue"/>
              </a:rPr>
              <a:t>your</a:t>
            </a:r>
            <a:r>
              <a:rPr sz="4000" b="1">
                <a:solidFill>
                  <a:srgbClr val="F2F5F9"/>
                </a:solidFill>
                <a:latin typeface="Helvetica Neue"/>
              </a:rPr>
              <a:t> paper.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822960"/>
            <a:ext cx="10362895" cy="457200"/>
          </a:xfrm>
          <a:prstGeom prst="rect">
            <a:avLst/>
          </a:prstGeom>
          <a:noFill/>
        </p:spPr>
        <p:txBody>
          <a:bodyPr wrap="square" anchor="ctr">
            <a:spAutoFit/>
          </a:bodyPr>
          <a:lstStyle/>
          <a:p>
            <a:pPr algn="ctr"/>
            <a:r>
              <a:rPr sz="1400" b="1" dirty="0">
                <a:solidFill>
                  <a:srgbClr val="9AA7B4"/>
                </a:solidFill>
                <a:latin typeface="Helvetica Neue"/>
              </a:rPr>
              <a:t>HANDS UP</a:t>
            </a:r>
          </a:p>
        </p:txBody>
      </p:sp>
      <p:sp>
        <p:nvSpPr>
          <p:cNvPr id="3" name="TextBox 2"/>
          <p:cNvSpPr txBox="1"/>
          <p:nvPr/>
        </p:nvSpPr>
        <p:spPr>
          <a:xfrm>
            <a:off x="640080" y="1463040"/>
            <a:ext cx="10911535" cy="914400"/>
          </a:xfrm>
          <a:prstGeom prst="rect">
            <a:avLst/>
          </a:prstGeom>
          <a:noFill/>
        </p:spPr>
        <p:txBody>
          <a:bodyPr wrap="square" anchor="ctr">
            <a:spAutoFit/>
          </a:bodyPr>
          <a:lstStyle/>
          <a:p>
            <a:pPr algn="ctr"/>
            <a:r>
              <a:rPr sz="4000" b="1" dirty="0">
                <a:solidFill>
                  <a:srgbClr val="F2F5F9"/>
                </a:solidFill>
                <a:latin typeface="Helvetica Neue"/>
              </a:rPr>
              <a:t>Have you used AI in your project?</a:t>
            </a:r>
          </a:p>
        </p:txBody>
      </p:sp>
      <p:graphicFrame>
        <p:nvGraphicFramePr>
          <p:cNvPr id="7" name="Diagram 6">
            <a:extLst>
              <a:ext uri="{FF2B5EF4-FFF2-40B4-BE49-F238E27FC236}">
                <a16:creationId xmlns:a16="http://schemas.microsoft.com/office/drawing/2014/main" id="{88498EDE-8DAA-B854-E3CB-5DFC6E78A0D3}"/>
              </a:ext>
            </a:extLst>
          </p:cNvPr>
          <p:cNvGraphicFramePr/>
          <p:nvPr>
            <p:extLst>
              <p:ext uri="{D42A27DB-BD31-4B8C-83A1-F6EECF244321}">
                <p14:modId xmlns:p14="http://schemas.microsoft.com/office/powerpoint/2010/main" val="1067942667"/>
              </p:ext>
            </p:extLst>
          </p:nvPr>
        </p:nvGraphicFramePr>
        <p:xfrm>
          <a:off x="429875" y="3038176"/>
          <a:ext cx="5665972" cy="28847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1BE021A9-8648-2E46-2E01-DCC3BED3E0D4}"/>
              </a:ext>
            </a:extLst>
          </p:cNvPr>
          <p:cNvGraphicFramePr/>
          <p:nvPr>
            <p:extLst>
              <p:ext uri="{D42A27DB-BD31-4B8C-83A1-F6EECF244321}">
                <p14:modId xmlns:p14="http://schemas.microsoft.com/office/powerpoint/2010/main" val="3966224240"/>
              </p:ext>
            </p:extLst>
          </p:nvPr>
        </p:nvGraphicFramePr>
        <p:xfrm>
          <a:off x="6249429" y="3038176"/>
          <a:ext cx="5665972" cy="288477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TextBox 8">
            <a:extLst>
              <a:ext uri="{FF2B5EF4-FFF2-40B4-BE49-F238E27FC236}">
                <a16:creationId xmlns:a16="http://schemas.microsoft.com/office/drawing/2014/main" id="{910D47FD-0C57-406E-98A9-627623873982}"/>
              </a:ext>
            </a:extLst>
          </p:cNvPr>
          <p:cNvSpPr txBox="1"/>
          <p:nvPr/>
        </p:nvSpPr>
        <p:spPr>
          <a:xfrm>
            <a:off x="735738" y="6035040"/>
            <a:ext cx="5054246" cy="400110"/>
          </a:xfrm>
          <a:prstGeom prst="rect">
            <a:avLst/>
          </a:prstGeom>
          <a:noFill/>
        </p:spPr>
        <p:txBody>
          <a:bodyPr wrap="square" anchor="ctr">
            <a:spAutoFit/>
          </a:bodyPr>
          <a:lstStyle/>
          <a:p>
            <a:pPr algn="ctr"/>
            <a:r>
              <a:rPr lang="en-US" sz="2000" b="0" dirty="0">
                <a:solidFill>
                  <a:srgbClr val="9AA7B4"/>
                </a:solidFill>
                <a:latin typeface="Helvetica Neue"/>
              </a:rPr>
              <a:t>Early 2023</a:t>
            </a:r>
            <a:endParaRPr sz="2000" b="0" dirty="0">
              <a:solidFill>
                <a:srgbClr val="9AA7B4"/>
              </a:solidFill>
              <a:latin typeface="Helvetica Neue"/>
            </a:endParaRPr>
          </a:p>
        </p:txBody>
      </p:sp>
      <p:sp>
        <p:nvSpPr>
          <p:cNvPr id="10" name="TextBox 9">
            <a:extLst>
              <a:ext uri="{FF2B5EF4-FFF2-40B4-BE49-F238E27FC236}">
                <a16:creationId xmlns:a16="http://schemas.microsoft.com/office/drawing/2014/main" id="{6C38A54A-D55F-EEE7-868F-9646DC1C77DB}"/>
              </a:ext>
            </a:extLst>
          </p:cNvPr>
          <p:cNvSpPr txBox="1"/>
          <p:nvPr/>
        </p:nvSpPr>
        <p:spPr>
          <a:xfrm>
            <a:off x="6555292" y="6035040"/>
            <a:ext cx="5054246" cy="400110"/>
          </a:xfrm>
          <a:prstGeom prst="rect">
            <a:avLst/>
          </a:prstGeom>
          <a:noFill/>
        </p:spPr>
        <p:txBody>
          <a:bodyPr wrap="square" anchor="ctr">
            <a:spAutoFit/>
          </a:bodyPr>
          <a:lstStyle/>
          <a:p>
            <a:pPr algn="ctr"/>
            <a:r>
              <a:rPr lang="en-US" sz="2000" b="0" dirty="0">
                <a:solidFill>
                  <a:srgbClr val="9AA7B4"/>
                </a:solidFill>
                <a:latin typeface="Helvetica Neue"/>
              </a:rPr>
              <a:t>Today</a:t>
            </a:r>
            <a:endParaRPr sz="2000" b="0" dirty="0">
              <a:solidFill>
                <a:srgbClr val="9AA7B4"/>
              </a:solidFill>
              <a:latin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8" grpId="0">
        <p:bldAsOne/>
      </p:bldGraphic>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377440"/>
            <a:ext cx="10362895" cy="457200"/>
          </a:xfrm>
          <a:prstGeom prst="rect">
            <a:avLst/>
          </a:prstGeom>
          <a:noFill/>
        </p:spPr>
        <p:txBody>
          <a:bodyPr wrap="square" anchor="ctr">
            <a:spAutoFit/>
          </a:bodyPr>
          <a:lstStyle/>
          <a:p>
            <a:pPr algn="ctr"/>
            <a:r>
              <a:rPr sz="1400" b="1">
                <a:solidFill>
                  <a:srgbClr val="9AA7B4"/>
                </a:solidFill>
                <a:latin typeface="Helvetica Neue"/>
              </a:rPr>
              <a:t>NEXT 20 MINUTES</a:t>
            </a:r>
          </a:p>
        </p:txBody>
      </p:sp>
      <p:sp>
        <p:nvSpPr>
          <p:cNvPr id="3" name="TextBox 2"/>
          <p:cNvSpPr txBox="1"/>
          <p:nvPr/>
        </p:nvSpPr>
        <p:spPr>
          <a:xfrm>
            <a:off x="640080" y="3198167"/>
            <a:ext cx="10911535" cy="461665"/>
          </a:xfrm>
          <a:prstGeom prst="rect">
            <a:avLst/>
          </a:prstGeom>
          <a:noFill/>
        </p:spPr>
        <p:txBody>
          <a:bodyPr wrap="square" anchor="ctr">
            <a:spAutoFit/>
          </a:bodyPr>
          <a:lstStyle/>
          <a:p>
            <a:pPr algn="ctr"/>
            <a:r>
              <a:rPr sz="2400" b="1" dirty="0">
                <a:solidFill>
                  <a:srgbClr val="F2F5F9"/>
                </a:solidFill>
                <a:latin typeface="Helvetica Neue"/>
              </a:rPr>
              <a:t>✍️ Writing  →  🔍 Reviewing  →  💰 Funding  →  🎓 My PhD  →  🧰 Toolkit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PART 1</a:t>
            </a:r>
          </a:p>
        </p:txBody>
      </p:sp>
      <p:sp>
        <p:nvSpPr>
          <p:cNvPr id="3" name="TextBox 2"/>
          <p:cNvSpPr txBox="1"/>
          <p:nvPr/>
        </p:nvSpPr>
        <p:spPr>
          <a:xfrm>
            <a:off x="640080" y="2834640"/>
            <a:ext cx="10911535" cy="1097280"/>
          </a:xfrm>
          <a:prstGeom prst="rect">
            <a:avLst/>
          </a:prstGeom>
          <a:noFill/>
        </p:spPr>
        <p:txBody>
          <a:bodyPr wrap="square" anchor="ctr">
            <a:spAutoFit/>
          </a:bodyPr>
          <a:lstStyle/>
          <a:p>
            <a:pPr algn="ctr"/>
            <a:r>
              <a:rPr sz="4800" b="1">
                <a:solidFill>
                  <a:srgbClr val="F2F5F9"/>
                </a:solidFill>
                <a:latin typeface="Helvetica Neue"/>
              </a:rPr>
              <a:t>✍️ Writing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377440"/>
            <a:ext cx="10362895" cy="457200"/>
          </a:xfrm>
          <a:prstGeom prst="rect">
            <a:avLst/>
          </a:prstGeom>
          <a:noFill/>
        </p:spPr>
        <p:txBody>
          <a:bodyPr wrap="square" anchor="ctr">
            <a:spAutoFit/>
          </a:bodyPr>
          <a:lstStyle/>
          <a:p>
            <a:pPr algn="ctr"/>
            <a:r>
              <a:rPr sz="1400" b="1">
                <a:solidFill>
                  <a:srgbClr val="3FB950"/>
                </a:solidFill>
                <a:latin typeface="Helvetica Neue"/>
              </a:rPr>
              <a:t>THE GOOD</a:t>
            </a:r>
          </a:p>
        </p:txBody>
      </p:sp>
      <p:sp>
        <p:nvSpPr>
          <p:cNvPr id="3" name="TextBox 2"/>
          <p:cNvSpPr txBox="1"/>
          <p:nvPr/>
        </p:nvSpPr>
        <p:spPr>
          <a:xfrm>
            <a:off x="640080" y="3017520"/>
            <a:ext cx="10911535" cy="822960"/>
          </a:xfrm>
          <a:prstGeom prst="rect">
            <a:avLst/>
          </a:prstGeom>
          <a:noFill/>
        </p:spPr>
        <p:txBody>
          <a:bodyPr wrap="square" anchor="ctr">
            <a:spAutoFit/>
          </a:bodyPr>
          <a:lstStyle/>
          <a:p>
            <a:pPr algn="ctr"/>
            <a:r>
              <a:rPr sz="3000" b="1">
                <a:solidFill>
                  <a:srgbClr val="F2F5F9"/>
                </a:solidFill>
                <a:latin typeface="Helvetica Neue"/>
              </a:rPr>
              <a:t>A student in Cairo can now write like one in Cambridge.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097280"/>
            <a:ext cx="10362895" cy="457200"/>
          </a:xfrm>
          <a:prstGeom prst="rect">
            <a:avLst/>
          </a:prstGeom>
          <a:noFill/>
        </p:spPr>
        <p:txBody>
          <a:bodyPr wrap="square" anchor="ctr">
            <a:spAutoFit/>
          </a:bodyPr>
          <a:lstStyle/>
          <a:p>
            <a:pPr algn="ctr"/>
            <a:r>
              <a:rPr sz="1400" b="1">
                <a:solidFill>
                  <a:srgbClr val="F85149"/>
                </a:solidFill>
                <a:latin typeface="Helvetica Neue"/>
              </a:rPr>
              <a:t>THE BAD</a:t>
            </a:r>
          </a:p>
        </p:txBody>
      </p:sp>
      <p:sp>
        <p:nvSpPr>
          <p:cNvPr id="3" name="TextBox 2"/>
          <p:cNvSpPr txBox="1"/>
          <p:nvPr/>
        </p:nvSpPr>
        <p:spPr>
          <a:xfrm>
            <a:off x="640080" y="1737360"/>
            <a:ext cx="10911535" cy="914400"/>
          </a:xfrm>
          <a:prstGeom prst="rect">
            <a:avLst/>
          </a:prstGeom>
          <a:noFill/>
        </p:spPr>
        <p:txBody>
          <a:bodyPr wrap="square" anchor="ctr">
            <a:spAutoFit/>
          </a:bodyPr>
          <a:lstStyle/>
          <a:p>
            <a:pPr algn="ctr"/>
            <a:r>
              <a:rPr sz="3800" b="1">
                <a:solidFill>
                  <a:srgbClr val="F2F5F9"/>
                </a:solidFill>
                <a:latin typeface="Helvetica Neue"/>
              </a:rPr>
              <a:t>AI invents papers that </a:t>
            </a:r>
            <a:r>
              <a:rPr sz="3800" b="1">
                <a:solidFill>
                  <a:srgbClr val="F85149"/>
                </a:solidFill>
                <a:latin typeface="Helvetica Neue"/>
              </a:rPr>
              <a:t>don't exist.</a:t>
            </a:r>
          </a:p>
        </p:txBody>
      </p:sp>
      <p:pic>
        <p:nvPicPr>
          <p:cNvPr id="6" name="Picture 5">
            <a:extLst>
              <a:ext uri="{FF2B5EF4-FFF2-40B4-BE49-F238E27FC236}">
                <a16:creationId xmlns:a16="http://schemas.microsoft.com/office/drawing/2014/main" id="{7C91339A-70EF-33D9-64BC-F02E730B8A7C}"/>
              </a:ext>
            </a:extLst>
          </p:cNvPr>
          <p:cNvPicPr>
            <a:picLocks noChangeAspect="1"/>
          </p:cNvPicPr>
          <p:nvPr/>
        </p:nvPicPr>
        <p:blipFill>
          <a:blip r:embed="rId3"/>
          <a:stretch>
            <a:fillRect/>
          </a:stretch>
        </p:blipFill>
        <p:spPr>
          <a:xfrm>
            <a:off x="3453773" y="3114964"/>
            <a:ext cx="5284454" cy="31657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914400"/>
            <a:ext cx="10362895" cy="457200"/>
          </a:xfrm>
          <a:prstGeom prst="rect">
            <a:avLst/>
          </a:prstGeom>
          <a:noFill/>
        </p:spPr>
        <p:txBody>
          <a:bodyPr wrap="square" anchor="ctr">
            <a:spAutoFit/>
          </a:bodyPr>
          <a:lstStyle/>
          <a:p>
            <a:pPr algn="ctr"/>
            <a:r>
              <a:rPr sz="1400" b="1">
                <a:solidFill>
                  <a:srgbClr val="9AA7B4"/>
                </a:solidFill>
                <a:latin typeface="Helvetica Neue"/>
              </a:rPr>
              <a:t>QUIZ — YOU VOTE</a:t>
            </a:r>
          </a:p>
        </p:txBody>
      </p:sp>
      <p:sp>
        <p:nvSpPr>
          <p:cNvPr id="3" name="TextBox 2"/>
          <p:cNvSpPr txBox="1"/>
          <p:nvPr/>
        </p:nvSpPr>
        <p:spPr>
          <a:xfrm>
            <a:off x="640080" y="1554480"/>
            <a:ext cx="10911535" cy="822960"/>
          </a:xfrm>
          <a:prstGeom prst="rect">
            <a:avLst/>
          </a:prstGeom>
          <a:noFill/>
        </p:spPr>
        <p:txBody>
          <a:bodyPr wrap="square" anchor="ctr">
            <a:spAutoFit/>
          </a:bodyPr>
          <a:lstStyle/>
          <a:p>
            <a:pPr algn="ctr"/>
            <a:r>
              <a:rPr sz="3600" b="1" dirty="0">
                <a:solidFill>
                  <a:srgbClr val="F2F5F9"/>
                </a:solidFill>
                <a:latin typeface="Helvetica Neue"/>
              </a:rPr>
              <a:t>Which abstract was written by AI?</a:t>
            </a:r>
          </a:p>
        </p:txBody>
      </p:sp>
      <p:sp>
        <p:nvSpPr>
          <p:cNvPr id="4" name="Rounded Rectangle 3"/>
          <p:cNvSpPr/>
          <p:nvPr/>
        </p:nvSpPr>
        <p:spPr>
          <a:xfrm>
            <a:off x="914400" y="2743200"/>
            <a:ext cx="5029200" cy="2377440"/>
          </a:xfrm>
          <a:prstGeom prst="roundRect">
            <a:avLst/>
          </a:prstGeom>
          <a:solidFill>
            <a:srgbClr val="131A23"/>
          </a:solidFill>
          <a:ln w="25400">
            <a:solidFill>
              <a:srgbClr val="9AA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just"/>
            <a:r>
              <a:rPr lang="en-GB" sz="1400" dirty="0"/>
              <a:t>We introduce Nova, a novel AI model designed to address the limitations of existing models in terms of performance, efficiency, and generalisation. Nova combines adaptive learning with an efficient architecture to improve performance across a range of tasks. Extensive experiments demonstrate that Nova achieves state-of-the-art results while reducing computational requirements. Furthermore, the model demonstrates strong robustness across diverse datasets and challenging scenarios. These findings highlight the potential of Nova as an effective and scalable solution for next-generation AI applications.</a:t>
            </a:r>
          </a:p>
        </p:txBody>
      </p:sp>
      <p:sp>
        <p:nvSpPr>
          <p:cNvPr id="7" name="TextBox 6">
            <a:extLst>
              <a:ext uri="{FF2B5EF4-FFF2-40B4-BE49-F238E27FC236}">
                <a16:creationId xmlns:a16="http://schemas.microsoft.com/office/drawing/2014/main" id="{840801CD-6A01-9DDE-28BE-11525CB62C84}"/>
              </a:ext>
            </a:extLst>
          </p:cNvPr>
          <p:cNvSpPr txBox="1"/>
          <p:nvPr/>
        </p:nvSpPr>
        <p:spPr>
          <a:xfrm>
            <a:off x="380308" y="5120640"/>
            <a:ext cx="6097384" cy="523220"/>
          </a:xfrm>
          <a:prstGeom prst="rect">
            <a:avLst/>
          </a:prstGeom>
          <a:noFill/>
        </p:spPr>
        <p:txBody>
          <a:bodyPr wrap="square">
            <a:spAutoFit/>
          </a:bodyPr>
          <a:lstStyle/>
          <a:p>
            <a:pPr algn="ctr"/>
            <a:r>
              <a:rPr lang="en-GB" sz="2800" b="1" dirty="0">
                <a:solidFill>
                  <a:srgbClr val="F2F5F9"/>
                </a:solidFill>
                <a:latin typeface="Helvetica Neue"/>
              </a:rPr>
              <a:t>A</a:t>
            </a:r>
          </a:p>
        </p:txBody>
      </p:sp>
      <p:sp>
        <p:nvSpPr>
          <p:cNvPr id="8" name="TextBox 7">
            <a:extLst>
              <a:ext uri="{FF2B5EF4-FFF2-40B4-BE49-F238E27FC236}">
                <a16:creationId xmlns:a16="http://schemas.microsoft.com/office/drawing/2014/main" id="{64B45326-D747-A9A9-5543-9CA1FF9EE842}"/>
              </a:ext>
            </a:extLst>
          </p:cNvPr>
          <p:cNvSpPr txBox="1"/>
          <p:nvPr/>
        </p:nvSpPr>
        <p:spPr>
          <a:xfrm>
            <a:off x="5729548" y="5120640"/>
            <a:ext cx="6097384" cy="523220"/>
          </a:xfrm>
          <a:prstGeom prst="rect">
            <a:avLst/>
          </a:prstGeom>
          <a:noFill/>
        </p:spPr>
        <p:txBody>
          <a:bodyPr wrap="square">
            <a:spAutoFit/>
          </a:bodyPr>
          <a:lstStyle/>
          <a:p>
            <a:pPr algn="ctr"/>
            <a:r>
              <a:rPr lang="en-GB" sz="2800" b="1" dirty="0">
                <a:solidFill>
                  <a:srgbClr val="F2F5F9"/>
                </a:solidFill>
                <a:latin typeface="Helvetica Neue"/>
              </a:rPr>
              <a:t>B</a:t>
            </a:r>
          </a:p>
        </p:txBody>
      </p:sp>
      <p:sp>
        <p:nvSpPr>
          <p:cNvPr id="9" name="Rounded Rectangle 8">
            <a:extLst>
              <a:ext uri="{FF2B5EF4-FFF2-40B4-BE49-F238E27FC236}">
                <a16:creationId xmlns:a16="http://schemas.microsoft.com/office/drawing/2014/main" id="{E46B0B36-7064-00FE-7F2A-B75A58F4F9D0}"/>
              </a:ext>
            </a:extLst>
          </p:cNvPr>
          <p:cNvSpPr/>
          <p:nvPr/>
        </p:nvSpPr>
        <p:spPr>
          <a:xfrm>
            <a:off x="6263640" y="2743200"/>
            <a:ext cx="5029200" cy="2377440"/>
          </a:xfrm>
          <a:prstGeom prst="roundRect">
            <a:avLst/>
          </a:prstGeom>
          <a:solidFill>
            <a:srgbClr val="131A23"/>
          </a:solidFill>
          <a:ln w="25400">
            <a:solidFill>
              <a:srgbClr val="9AA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just"/>
            <a:r>
              <a:rPr lang="en-GB" sz="1400" dirty="0"/>
              <a:t>We introduce Nova, a new AI model built to get better results without simply making the model bigger. We tested it on several common benchmarks and compared it with existing models using similar compute budgets. Nova performs better on most tasks and is noticeably more efficient at inference. The improvements aren’t consistent everywhere, though, particularly on simpler tasks. We also found that the model’s adaptive design matters more for reasoning-heavy problems than for straightforward classification.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DO THIS</a:t>
            </a:r>
          </a:p>
        </p:txBody>
      </p:sp>
      <p:sp>
        <p:nvSpPr>
          <p:cNvPr id="3" name="TextBox 2"/>
          <p:cNvSpPr txBox="1"/>
          <p:nvPr/>
        </p:nvSpPr>
        <p:spPr>
          <a:xfrm>
            <a:off x="640080" y="2743200"/>
            <a:ext cx="10911535" cy="914400"/>
          </a:xfrm>
          <a:prstGeom prst="rect">
            <a:avLst/>
          </a:prstGeom>
          <a:noFill/>
        </p:spPr>
        <p:txBody>
          <a:bodyPr wrap="square" anchor="ctr">
            <a:spAutoFit/>
          </a:bodyPr>
          <a:lstStyle/>
          <a:p>
            <a:pPr algn="ctr"/>
            <a:r>
              <a:rPr sz="4000" b="1">
                <a:solidFill>
                  <a:srgbClr val="F2F5F9"/>
                </a:solidFill>
                <a:latin typeface="Helvetica Neue"/>
              </a:rPr>
              <a:t>Critic, </a:t>
            </a:r>
            <a:r>
              <a:rPr sz="4000" b="1">
                <a:solidFill>
                  <a:srgbClr val="F0B429"/>
                </a:solidFill>
                <a:latin typeface="Helvetica Neue"/>
              </a:rPr>
              <a:t>not ghostwriter.</a:t>
            </a:r>
          </a:p>
        </p:txBody>
      </p:sp>
      <p:sp>
        <p:nvSpPr>
          <p:cNvPr id="4" name="TextBox 3"/>
          <p:cNvSpPr txBox="1"/>
          <p:nvPr/>
        </p:nvSpPr>
        <p:spPr>
          <a:xfrm>
            <a:off x="640080" y="3840480"/>
            <a:ext cx="10911535" cy="548640"/>
          </a:xfrm>
          <a:prstGeom prst="rect">
            <a:avLst/>
          </a:prstGeom>
          <a:noFill/>
        </p:spPr>
        <p:txBody>
          <a:bodyPr wrap="square" anchor="ctr">
            <a:spAutoFit/>
          </a:bodyPr>
          <a:lstStyle/>
          <a:p>
            <a:pPr algn="ctr"/>
            <a:r>
              <a:rPr sz="1800" b="0">
                <a:solidFill>
                  <a:srgbClr val="9AA7B4"/>
                </a:solidFill>
                <a:latin typeface="Helvetica Neue"/>
              </a:rPr>
              <a:t>Verify every citation.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PART 2</a:t>
            </a:r>
          </a:p>
        </p:txBody>
      </p:sp>
      <p:sp>
        <p:nvSpPr>
          <p:cNvPr id="3" name="TextBox 2"/>
          <p:cNvSpPr txBox="1"/>
          <p:nvPr/>
        </p:nvSpPr>
        <p:spPr>
          <a:xfrm>
            <a:off x="640080" y="2834640"/>
            <a:ext cx="10911535" cy="1097280"/>
          </a:xfrm>
          <a:prstGeom prst="rect">
            <a:avLst/>
          </a:prstGeom>
          <a:noFill/>
        </p:spPr>
        <p:txBody>
          <a:bodyPr wrap="square" anchor="ctr">
            <a:spAutoFit/>
          </a:bodyPr>
          <a:lstStyle/>
          <a:p>
            <a:pPr algn="ctr"/>
            <a:r>
              <a:rPr sz="4800" b="1">
                <a:solidFill>
                  <a:srgbClr val="F2F5F9"/>
                </a:solidFill>
                <a:latin typeface="Helvetica Neue"/>
              </a:rPr>
              <a:t>🔍 Reviewing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822960"/>
            <a:ext cx="10362895" cy="457200"/>
          </a:xfrm>
          <a:prstGeom prst="rect">
            <a:avLst/>
          </a:prstGeom>
          <a:noFill/>
        </p:spPr>
        <p:txBody>
          <a:bodyPr wrap="square" anchor="ctr">
            <a:spAutoFit/>
          </a:bodyPr>
          <a:lstStyle/>
          <a:p>
            <a:pPr algn="ctr"/>
            <a:r>
              <a:rPr sz="1400" b="1">
                <a:solidFill>
                  <a:srgbClr val="F85149"/>
                </a:solidFill>
                <a:latin typeface="Helvetica Neue"/>
              </a:rPr>
              <a:t>THE CRISIS</a:t>
            </a:r>
          </a:p>
        </p:txBody>
      </p:sp>
      <p:sp>
        <p:nvSpPr>
          <p:cNvPr id="3" name="TextBox 2"/>
          <p:cNvSpPr txBox="1"/>
          <p:nvPr/>
        </p:nvSpPr>
        <p:spPr>
          <a:xfrm>
            <a:off x="640080" y="1463040"/>
            <a:ext cx="10911535" cy="822960"/>
          </a:xfrm>
          <a:prstGeom prst="rect">
            <a:avLst/>
          </a:prstGeom>
          <a:noFill/>
        </p:spPr>
        <p:txBody>
          <a:bodyPr wrap="square" anchor="ctr">
            <a:spAutoFit/>
          </a:bodyPr>
          <a:lstStyle/>
          <a:p>
            <a:pPr algn="ctr"/>
            <a:r>
              <a:rPr sz="3600" b="1">
                <a:solidFill>
                  <a:srgbClr val="F2F5F9"/>
                </a:solidFill>
                <a:latin typeface="Helvetica Neue"/>
              </a:rPr>
              <a:t>AI reviewing </a:t>
            </a:r>
            <a:r>
              <a:rPr sz="3600" b="1">
                <a:solidFill>
                  <a:srgbClr val="F85149"/>
                </a:solidFill>
                <a:latin typeface="Helvetica Neue"/>
              </a:rPr>
              <a:t>AI-written</a:t>
            </a:r>
            <a:r>
              <a:rPr sz="3600" b="1">
                <a:solidFill>
                  <a:srgbClr val="F2F5F9"/>
                </a:solidFill>
                <a:latin typeface="Helvetica Neue"/>
              </a:rPr>
              <a:t> papers.</a:t>
            </a:r>
          </a:p>
        </p:txBody>
      </p:sp>
      <p:sp>
        <p:nvSpPr>
          <p:cNvPr id="4" name="TextBox 3"/>
          <p:cNvSpPr txBox="1"/>
          <p:nvPr/>
        </p:nvSpPr>
        <p:spPr>
          <a:xfrm>
            <a:off x="640080" y="2286000"/>
            <a:ext cx="10911535" cy="457200"/>
          </a:xfrm>
          <a:prstGeom prst="rect">
            <a:avLst/>
          </a:prstGeom>
          <a:noFill/>
        </p:spPr>
        <p:txBody>
          <a:bodyPr wrap="square" anchor="ctr">
            <a:spAutoFit/>
          </a:bodyPr>
          <a:lstStyle/>
          <a:p>
            <a:pPr algn="ctr"/>
            <a:r>
              <a:rPr sz="1600" b="0">
                <a:solidFill>
                  <a:srgbClr val="9AA7B4"/>
                </a:solidFill>
                <a:latin typeface="Helvetica Neue"/>
              </a:rPr>
              <a:t>15.8% of ICLR reviews were LLM-assisted.</a:t>
            </a:r>
          </a:p>
        </p:txBody>
      </p:sp>
      <p:pic>
        <p:nvPicPr>
          <p:cNvPr id="7" name="Picture 6">
            <a:extLst>
              <a:ext uri="{FF2B5EF4-FFF2-40B4-BE49-F238E27FC236}">
                <a16:creationId xmlns:a16="http://schemas.microsoft.com/office/drawing/2014/main" id="{E45BF3D3-0CB7-861F-8DD8-5CA1A1DCB435}"/>
              </a:ext>
            </a:extLst>
          </p:cNvPr>
          <p:cNvPicPr>
            <a:picLocks noChangeAspect="1"/>
          </p:cNvPicPr>
          <p:nvPr/>
        </p:nvPicPr>
        <p:blipFill>
          <a:blip r:embed="rId3"/>
          <a:stretch>
            <a:fillRect/>
          </a:stretch>
        </p:blipFill>
        <p:spPr>
          <a:xfrm>
            <a:off x="3032607" y="2954483"/>
            <a:ext cx="6126785" cy="34463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2895" cy="457200"/>
          </a:xfrm>
          <a:prstGeom prst="rect">
            <a:avLst/>
          </a:prstGeom>
          <a:noFill/>
        </p:spPr>
        <p:txBody>
          <a:bodyPr wrap="square" anchor="ctr">
            <a:spAutoFit/>
          </a:bodyPr>
          <a:lstStyle/>
          <a:p>
            <a:pPr algn="ctr"/>
            <a:r>
              <a:rPr sz="1400" b="1">
                <a:solidFill>
                  <a:srgbClr val="3FB950"/>
                </a:solidFill>
                <a:latin typeface="Helvetica Neue"/>
              </a:rPr>
              <a:t>THE COUNTER-STORY</a:t>
            </a:r>
          </a:p>
        </p:txBody>
      </p:sp>
      <p:sp>
        <p:nvSpPr>
          <p:cNvPr id="3" name="TextBox 2"/>
          <p:cNvSpPr txBox="1"/>
          <p:nvPr/>
        </p:nvSpPr>
        <p:spPr>
          <a:xfrm>
            <a:off x="640080" y="2651760"/>
            <a:ext cx="10911535" cy="914400"/>
          </a:xfrm>
          <a:prstGeom prst="rect">
            <a:avLst/>
          </a:prstGeom>
          <a:noFill/>
        </p:spPr>
        <p:txBody>
          <a:bodyPr wrap="square" anchor="ctr">
            <a:spAutoFit/>
          </a:bodyPr>
          <a:lstStyle/>
          <a:p>
            <a:pPr algn="ctr"/>
            <a:r>
              <a:rPr sz="3800" b="1">
                <a:solidFill>
                  <a:srgbClr val="F2F5F9"/>
                </a:solidFill>
                <a:latin typeface="Helvetica Neue"/>
              </a:rPr>
              <a:t>The same AI </a:t>
            </a:r>
            <a:r>
              <a:rPr sz="3800" b="1">
                <a:solidFill>
                  <a:srgbClr val="3FB950"/>
                </a:solidFill>
                <a:latin typeface="Helvetica Neue"/>
              </a:rPr>
              <a:t>caught the cheaters.</a:t>
            </a:r>
          </a:p>
        </p:txBody>
      </p:sp>
      <p:sp>
        <p:nvSpPr>
          <p:cNvPr id="4" name="TextBox 3"/>
          <p:cNvSpPr txBox="1"/>
          <p:nvPr/>
        </p:nvSpPr>
        <p:spPr>
          <a:xfrm>
            <a:off x="640080" y="3749039"/>
            <a:ext cx="10911535" cy="548640"/>
          </a:xfrm>
          <a:prstGeom prst="rect">
            <a:avLst/>
          </a:prstGeom>
          <a:noFill/>
        </p:spPr>
        <p:txBody>
          <a:bodyPr wrap="square" anchor="ctr">
            <a:spAutoFit/>
          </a:bodyPr>
          <a:lstStyle/>
          <a:p>
            <a:pPr algn="ctr"/>
            <a:r>
              <a:rPr sz="1800" b="0">
                <a:solidFill>
                  <a:srgbClr val="9AA7B4"/>
                </a:solidFill>
                <a:latin typeface="Helvetica Neue"/>
              </a:rPr>
              <a:t>398 flagged · 83% of top journals now have AI rules.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377440"/>
            <a:ext cx="10362895" cy="457200"/>
          </a:xfrm>
          <a:prstGeom prst="rect">
            <a:avLst/>
          </a:prstGeom>
          <a:noFill/>
        </p:spPr>
        <p:txBody>
          <a:bodyPr wrap="square" anchor="ctr">
            <a:spAutoFit/>
          </a:bodyPr>
          <a:lstStyle/>
          <a:p>
            <a:pPr algn="ctr"/>
            <a:r>
              <a:rPr sz="1400" b="1">
                <a:solidFill>
                  <a:srgbClr val="9AA7B4"/>
                </a:solidFill>
                <a:latin typeface="Helvetica Neue"/>
              </a:rPr>
              <a:t>VOTE</a:t>
            </a:r>
          </a:p>
        </p:txBody>
      </p:sp>
      <p:sp>
        <p:nvSpPr>
          <p:cNvPr id="3" name="TextBox 2"/>
          <p:cNvSpPr txBox="1"/>
          <p:nvPr/>
        </p:nvSpPr>
        <p:spPr>
          <a:xfrm>
            <a:off x="640080" y="3017520"/>
            <a:ext cx="10911535" cy="822960"/>
          </a:xfrm>
          <a:prstGeom prst="rect">
            <a:avLst/>
          </a:prstGeom>
          <a:noFill/>
        </p:spPr>
        <p:txBody>
          <a:bodyPr wrap="square" anchor="ctr">
            <a:spAutoFit/>
          </a:bodyPr>
          <a:lstStyle/>
          <a:p>
            <a:pPr algn="ctr"/>
            <a:r>
              <a:rPr sz="3200" b="1">
                <a:solidFill>
                  <a:srgbClr val="F2F5F9"/>
                </a:solidFill>
                <a:latin typeface="Helvetica Neue"/>
              </a:rPr>
              <a:t>Would you trust an AI review of </a:t>
            </a:r>
            <a:r>
              <a:rPr sz="3200" b="1">
                <a:solidFill>
                  <a:srgbClr val="F0B429"/>
                </a:solidFill>
                <a:latin typeface="Helvetica Neue"/>
              </a:rPr>
              <a:t>your</a:t>
            </a:r>
            <a:r>
              <a:rPr sz="3200" b="1">
                <a:solidFill>
                  <a:srgbClr val="F2F5F9"/>
                </a:solidFill>
                <a:latin typeface="Helvetica Neue"/>
              </a:rPr>
              <a:t> work?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DO THIS</a:t>
            </a:r>
          </a:p>
        </p:txBody>
      </p:sp>
      <p:sp>
        <p:nvSpPr>
          <p:cNvPr id="3" name="TextBox 2"/>
          <p:cNvSpPr txBox="1"/>
          <p:nvPr/>
        </p:nvSpPr>
        <p:spPr>
          <a:xfrm>
            <a:off x="640080" y="2743200"/>
            <a:ext cx="10911535" cy="914400"/>
          </a:xfrm>
          <a:prstGeom prst="rect">
            <a:avLst/>
          </a:prstGeom>
          <a:noFill/>
        </p:spPr>
        <p:txBody>
          <a:bodyPr wrap="square" anchor="ctr">
            <a:spAutoFit/>
          </a:bodyPr>
          <a:lstStyle/>
          <a:p>
            <a:pPr algn="ctr"/>
            <a:r>
              <a:rPr sz="4000" b="1">
                <a:solidFill>
                  <a:srgbClr val="F2F5F9"/>
                </a:solidFill>
                <a:latin typeface="Helvetica Neue"/>
              </a:rPr>
              <a:t>Run an </a:t>
            </a:r>
            <a:r>
              <a:rPr sz="4000" b="1">
                <a:solidFill>
                  <a:srgbClr val="F0B429"/>
                </a:solidFill>
                <a:latin typeface="Helvetica Neue"/>
              </a:rPr>
              <a:t>AI pre-review.</a:t>
            </a:r>
          </a:p>
        </p:txBody>
      </p:sp>
      <p:sp>
        <p:nvSpPr>
          <p:cNvPr id="4" name="TextBox 3"/>
          <p:cNvSpPr txBox="1"/>
          <p:nvPr/>
        </p:nvSpPr>
        <p:spPr>
          <a:xfrm>
            <a:off x="640080" y="3840480"/>
            <a:ext cx="10911535" cy="548640"/>
          </a:xfrm>
          <a:prstGeom prst="rect">
            <a:avLst/>
          </a:prstGeom>
          <a:noFill/>
        </p:spPr>
        <p:txBody>
          <a:bodyPr wrap="square" anchor="ctr">
            <a:spAutoFit/>
          </a:bodyPr>
          <a:lstStyle/>
          <a:p>
            <a:pPr algn="ctr"/>
            <a:r>
              <a:rPr sz="1800" b="0">
                <a:solidFill>
                  <a:srgbClr val="9AA7B4"/>
                </a:solidFill>
                <a:latin typeface="Helvetica Neue"/>
              </a:rPr>
              <a:t>At 2am, before any human sees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PART 3</a:t>
            </a:r>
          </a:p>
        </p:txBody>
      </p:sp>
      <p:sp>
        <p:nvSpPr>
          <p:cNvPr id="3" name="TextBox 2"/>
          <p:cNvSpPr txBox="1"/>
          <p:nvPr/>
        </p:nvSpPr>
        <p:spPr>
          <a:xfrm>
            <a:off x="640080" y="2834640"/>
            <a:ext cx="10911535" cy="1097280"/>
          </a:xfrm>
          <a:prstGeom prst="rect">
            <a:avLst/>
          </a:prstGeom>
          <a:noFill/>
        </p:spPr>
        <p:txBody>
          <a:bodyPr wrap="square" anchor="ctr">
            <a:spAutoFit/>
          </a:bodyPr>
          <a:lstStyle/>
          <a:p>
            <a:pPr algn="ctr"/>
            <a:r>
              <a:rPr sz="4400" b="1">
                <a:solidFill>
                  <a:srgbClr val="F2F5F9"/>
                </a:solidFill>
                <a:latin typeface="Helvetica Neue"/>
              </a:rPr>
              <a:t>💰 Funding &amp; 🌍 Abroad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3FB950"/>
                </a:solidFill>
                <a:latin typeface="Helvetica Neue"/>
              </a:rPr>
              <a:t>THE GOOD · ONE RULE</a:t>
            </a:r>
          </a:p>
        </p:txBody>
      </p:sp>
      <p:sp>
        <p:nvSpPr>
          <p:cNvPr id="3" name="TextBox 2"/>
          <p:cNvSpPr txBox="1"/>
          <p:nvPr/>
        </p:nvSpPr>
        <p:spPr>
          <a:xfrm>
            <a:off x="640080" y="2743200"/>
            <a:ext cx="10911535" cy="914400"/>
          </a:xfrm>
          <a:prstGeom prst="rect">
            <a:avLst/>
          </a:prstGeom>
          <a:noFill/>
        </p:spPr>
        <p:txBody>
          <a:bodyPr wrap="square" anchor="ctr">
            <a:spAutoFit/>
          </a:bodyPr>
          <a:lstStyle/>
          <a:p>
            <a:pPr algn="ctr"/>
            <a:r>
              <a:rPr sz="4000" b="1">
                <a:solidFill>
                  <a:srgbClr val="F2F5F9"/>
                </a:solidFill>
                <a:latin typeface="Helvetica Neue"/>
              </a:rPr>
              <a:t>A grant proposal in </a:t>
            </a:r>
            <a:r>
              <a:rPr sz="4000" b="1">
                <a:solidFill>
                  <a:srgbClr val="3FB950"/>
                </a:solidFill>
                <a:latin typeface="Helvetica Neue"/>
              </a:rPr>
              <a:t>&lt; 1 week.</a:t>
            </a:r>
          </a:p>
        </p:txBody>
      </p:sp>
      <p:sp>
        <p:nvSpPr>
          <p:cNvPr id="4" name="TextBox 3"/>
          <p:cNvSpPr txBox="1"/>
          <p:nvPr/>
        </p:nvSpPr>
        <p:spPr>
          <a:xfrm>
            <a:off x="640080" y="3840480"/>
            <a:ext cx="10911535" cy="548640"/>
          </a:xfrm>
          <a:prstGeom prst="rect">
            <a:avLst/>
          </a:prstGeom>
          <a:noFill/>
        </p:spPr>
        <p:txBody>
          <a:bodyPr wrap="square" anchor="ctr">
            <a:spAutoFit/>
          </a:bodyPr>
          <a:lstStyle/>
          <a:p>
            <a:pPr algn="ctr"/>
            <a:r>
              <a:rPr sz="1800" b="0">
                <a:solidFill>
                  <a:srgbClr val="F0883E"/>
                </a:solidFill>
                <a:latin typeface="Helvetica Neue"/>
              </a:rPr>
              <a:t>Disclose — funders check.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GOING ABROAD</a:t>
            </a:r>
          </a:p>
        </p:txBody>
      </p:sp>
      <p:sp>
        <p:nvSpPr>
          <p:cNvPr id="3" name="TextBox 2"/>
          <p:cNvSpPr txBox="1"/>
          <p:nvPr/>
        </p:nvSpPr>
        <p:spPr>
          <a:xfrm>
            <a:off x="640080" y="2743200"/>
            <a:ext cx="10911535" cy="822960"/>
          </a:xfrm>
          <a:prstGeom prst="rect">
            <a:avLst/>
          </a:prstGeom>
          <a:noFill/>
        </p:spPr>
        <p:txBody>
          <a:bodyPr wrap="square" anchor="ctr">
            <a:spAutoFit/>
          </a:bodyPr>
          <a:lstStyle/>
          <a:p>
            <a:pPr algn="ctr"/>
            <a:r>
              <a:rPr sz="3000" b="1">
                <a:solidFill>
                  <a:srgbClr val="F2F5F9"/>
                </a:solidFill>
                <a:latin typeface="Helvetica Neue"/>
              </a:rPr>
              <a:t>Ask any lab: </a:t>
            </a:r>
            <a:r>
              <a:rPr sz="3000" b="1">
                <a:solidFill>
                  <a:srgbClr val="F0B429"/>
                </a:solidFill>
                <a:latin typeface="Helvetica Neue"/>
              </a:rPr>
              <a:t>“How do you verify AI output?”</a:t>
            </a:r>
          </a:p>
        </p:txBody>
      </p:sp>
      <p:sp>
        <p:nvSpPr>
          <p:cNvPr id="4" name="TextBox 3"/>
          <p:cNvSpPr txBox="1"/>
          <p:nvPr/>
        </p:nvSpPr>
        <p:spPr>
          <a:xfrm>
            <a:off x="640080" y="3749039"/>
            <a:ext cx="10911535" cy="548640"/>
          </a:xfrm>
          <a:prstGeom prst="rect">
            <a:avLst/>
          </a:prstGeom>
          <a:noFill/>
        </p:spPr>
        <p:txBody>
          <a:bodyPr wrap="square" anchor="ctr">
            <a:spAutoFit/>
          </a:bodyPr>
          <a:lstStyle/>
          <a:p>
            <a:pPr algn="ctr"/>
            <a:r>
              <a:rPr sz="1800" b="0">
                <a:solidFill>
                  <a:srgbClr val="9AA7B4"/>
                </a:solidFill>
                <a:latin typeface="Helvetica Neue"/>
              </a:rPr>
              <a:t>Scholarships · GTA/RA · exchanges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62895" cy="457200"/>
          </a:xfrm>
          <a:prstGeom prst="rect">
            <a:avLst/>
          </a:prstGeom>
          <a:noFill/>
        </p:spPr>
        <p:txBody>
          <a:bodyPr wrap="square" anchor="ctr">
            <a:spAutoFit/>
          </a:bodyPr>
          <a:lstStyle/>
          <a:p>
            <a:pPr algn="ctr"/>
            <a:r>
              <a:rPr sz="1400" b="1">
                <a:solidFill>
                  <a:srgbClr val="9AA7B4"/>
                </a:solidFill>
                <a:latin typeface="Helvetica Neue"/>
              </a:rPr>
              <a:t>PART 4</a:t>
            </a:r>
          </a:p>
        </p:txBody>
      </p:sp>
      <p:sp>
        <p:nvSpPr>
          <p:cNvPr id="3" name="TextBox 2"/>
          <p:cNvSpPr txBox="1"/>
          <p:nvPr/>
        </p:nvSpPr>
        <p:spPr>
          <a:xfrm>
            <a:off x="640080" y="2834640"/>
            <a:ext cx="10911535" cy="1097280"/>
          </a:xfrm>
          <a:prstGeom prst="rect">
            <a:avLst/>
          </a:prstGeom>
          <a:noFill/>
        </p:spPr>
        <p:txBody>
          <a:bodyPr wrap="square" anchor="ctr">
            <a:spAutoFit/>
          </a:bodyPr>
          <a:lstStyle/>
          <a:p>
            <a:pPr algn="ctr"/>
            <a:r>
              <a:rPr sz="4800" b="1">
                <a:solidFill>
                  <a:srgbClr val="F2F5F9"/>
                </a:solidFill>
                <a:latin typeface="Helvetica Neue"/>
              </a:rPr>
              <a:t>🎓 My PhD: 2023 →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822960" y="1463040"/>
            <a:ext cx="5486400" cy="457200"/>
          </a:xfrm>
          <a:prstGeom prst="rect">
            <a:avLst/>
          </a:prstGeom>
          <a:noFill/>
        </p:spPr>
        <p:txBody>
          <a:bodyPr wrap="square" anchor="ctr">
            <a:spAutoFit/>
          </a:bodyPr>
          <a:lstStyle/>
          <a:p>
            <a:pPr algn="l"/>
            <a:r>
              <a:rPr sz="1400" b="1">
                <a:solidFill>
                  <a:srgbClr val="9AA7B4"/>
                </a:solidFill>
                <a:latin typeface="Helvetica Neue"/>
              </a:rPr>
              <a:t>2 0 2 3</a:t>
            </a:r>
          </a:p>
        </p:txBody>
      </p:sp>
      <p:sp>
        <p:nvSpPr>
          <p:cNvPr id="3" name="TextBox 2"/>
          <p:cNvSpPr txBox="1"/>
          <p:nvPr/>
        </p:nvSpPr>
        <p:spPr>
          <a:xfrm>
            <a:off x="822960" y="1920240"/>
            <a:ext cx="5486400" cy="731520"/>
          </a:xfrm>
          <a:prstGeom prst="rect">
            <a:avLst/>
          </a:prstGeom>
          <a:noFill/>
        </p:spPr>
        <p:txBody>
          <a:bodyPr wrap="square" anchor="ctr">
            <a:spAutoFit/>
          </a:bodyPr>
          <a:lstStyle/>
          <a:p>
            <a:pPr algn="l"/>
            <a:r>
              <a:rPr sz="3000" b="1">
                <a:solidFill>
                  <a:srgbClr val="F2F5F9"/>
                </a:solidFill>
                <a:latin typeface="Helvetica Neue"/>
              </a:rPr>
              <a:t>Lit review by hand.</a:t>
            </a:r>
          </a:p>
        </p:txBody>
      </p:sp>
      <p:sp>
        <p:nvSpPr>
          <p:cNvPr id="4" name="TextBox 3"/>
          <p:cNvSpPr txBox="1"/>
          <p:nvPr/>
        </p:nvSpPr>
        <p:spPr>
          <a:xfrm>
            <a:off x="822960" y="3291840"/>
            <a:ext cx="5486400" cy="457200"/>
          </a:xfrm>
          <a:prstGeom prst="rect">
            <a:avLst/>
          </a:prstGeom>
          <a:noFill/>
        </p:spPr>
        <p:txBody>
          <a:bodyPr wrap="square" anchor="ctr">
            <a:spAutoFit/>
          </a:bodyPr>
          <a:lstStyle/>
          <a:p>
            <a:pPr algn="l"/>
            <a:r>
              <a:rPr sz="1400" b="1">
                <a:solidFill>
                  <a:srgbClr val="9AA7B4"/>
                </a:solidFill>
                <a:latin typeface="Helvetica Neue"/>
              </a:rPr>
              <a:t>2 0 2 6</a:t>
            </a:r>
          </a:p>
        </p:txBody>
      </p:sp>
      <p:sp>
        <p:nvSpPr>
          <p:cNvPr id="5" name="TextBox 4"/>
          <p:cNvSpPr txBox="1"/>
          <p:nvPr/>
        </p:nvSpPr>
        <p:spPr>
          <a:xfrm>
            <a:off x="822960" y="3749039"/>
            <a:ext cx="5852160" cy="731520"/>
          </a:xfrm>
          <a:prstGeom prst="rect">
            <a:avLst/>
          </a:prstGeom>
          <a:noFill/>
        </p:spPr>
        <p:txBody>
          <a:bodyPr wrap="square" anchor="ctr">
            <a:spAutoFit/>
          </a:bodyPr>
          <a:lstStyle/>
          <a:p>
            <a:pPr algn="l"/>
            <a:r>
              <a:rPr sz="3000" b="1">
                <a:solidFill>
                  <a:srgbClr val="F2F5F9"/>
                </a:solidFill>
                <a:latin typeface="Helvetica Neue"/>
              </a:rPr>
              <a:t>AI agents training </a:t>
            </a:r>
            <a:r>
              <a:rPr sz="3000" b="1">
                <a:solidFill>
                  <a:srgbClr val="F0B429"/>
                </a:solidFill>
                <a:latin typeface="Helvetica Neue"/>
              </a:rPr>
              <a:t>other AIs.</a:t>
            </a:r>
          </a:p>
        </p:txBody>
      </p:sp>
      <p:pic>
        <p:nvPicPr>
          <p:cNvPr id="10" name="Picture 9">
            <a:extLst>
              <a:ext uri="{FF2B5EF4-FFF2-40B4-BE49-F238E27FC236}">
                <a16:creationId xmlns:a16="http://schemas.microsoft.com/office/drawing/2014/main" id="{62A06E63-9976-3D16-6A2A-793656BFF6B1}"/>
              </a:ext>
            </a:extLst>
          </p:cNvPr>
          <p:cNvPicPr>
            <a:picLocks noChangeAspect="1"/>
          </p:cNvPicPr>
          <p:nvPr/>
        </p:nvPicPr>
        <p:blipFill>
          <a:blip r:embed="rId3"/>
          <a:stretch>
            <a:fillRect/>
          </a:stretch>
        </p:blipFill>
        <p:spPr>
          <a:xfrm>
            <a:off x="7252854" y="1124787"/>
            <a:ext cx="4323102" cy="460842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560320"/>
            <a:ext cx="10362895" cy="457200"/>
          </a:xfrm>
          <a:prstGeom prst="rect">
            <a:avLst/>
          </a:prstGeom>
          <a:noFill/>
        </p:spPr>
        <p:txBody>
          <a:bodyPr wrap="square" anchor="ctr">
            <a:spAutoFit/>
          </a:bodyPr>
          <a:lstStyle/>
          <a:p>
            <a:pPr algn="ctr"/>
            <a:r>
              <a:rPr sz="1400" b="1">
                <a:solidFill>
                  <a:srgbClr val="9AA7B4"/>
                </a:solidFill>
                <a:latin typeface="Helvetica Neue"/>
              </a:rPr>
              <a:t>WHAT STAYED TIMELESS</a:t>
            </a:r>
          </a:p>
        </p:txBody>
      </p:sp>
      <p:sp>
        <p:nvSpPr>
          <p:cNvPr id="3" name="TextBox 2"/>
          <p:cNvSpPr txBox="1"/>
          <p:nvPr/>
        </p:nvSpPr>
        <p:spPr>
          <a:xfrm>
            <a:off x="640080" y="3200400"/>
            <a:ext cx="10911535" cy="822960"/>
          </a:xfrm>
          <a:prstGeom prst="rect">
            <a:avLst/>
          </a:prstGeom>
          <a:noFill/>
        </p:spPr>
        <p:txBody>
          <a:bodyPr wrap="square" anchor="ctr">
            <a:spAutoFit/>
          </a:bodyPr>
          <a:lstStyle/>
          <a:p>
            <a:pPr algn="ctr"/>
            <a:r>
              <a:rPr sz="3000" b="1">
                <a:solidFill>
                  <a:srgbClr val="F2F5F9"/>
                </a:solidFill>
                <a:latin typeface="Helvetica Neue"/>
              </a:rPr>
              <a:t>The question  ·  The writing  ·  The supervisor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097280"/>
            <a:ext cx="10362895" cy="457200"/>
          </a:xfrm>
          <a:prstGeom prst="rect">
            <a:avLst/>
          </a:prstGeom>
          <a:noFill/>
        </p:spPr>
        <p:txBody>
          <a:bodyPr wrap="square" anchor="ctr">
            <a:spAutoFit/>
          </a:bodyPr>
          <a:lstStyle/>
          <a:p>
            <a:pPr algn="ctr"/>
            <a:r>
              <a:rPr sz="1400" b="1">
                <a:solidFill>
                  <a:srgbClr val="9AA7B4"/>
                </a:solidFill>
                <a:latin typeface="Helvetica Neue"/>
              </a:rPr>
              <a:t>🧰 THE WALK-AWAY TOOLKIT</a:t>
            </a:r>
          </a:p>
        </p:txBody>
      </p:sp>
      <p:sp>
        <p:nvSpPr>
          <p:cNvPr id="3" name="TextBox 2"/>
          <p:cNvSpPr txBox="1"/>
          <p:nvPr/>
        </p:nvSpPr>
        <p:spPr>
          <a:xfrm>
            <a:off x="3108960" y="1737360"/>
            <a:ext cx="6035040" cy="4206240"/>
          </a:xfrm>
          <a:prstGeom prst="rect">
            <a:avLst/>
          </a:prstGeom>
          <a:noFill/>
        </p:spPr>
        <p:txBody>
          <a:bodyPr wrap="square" anchor="ctr">
            <a:spAutoFit/>
          </a:bodyPr>
          <a:lstStyle/>
          <a:p>
            <a:pPr algn="l">
              <a:spcAft>
                <a:spcPts val="1000"/>
              </a:spcAft>
            </a:pPr>
            <a:r>
              <a:rPr sz="2600" b="1">
                <a:solidFill>
                  <a:srgbClr val="F0B429"/>
                </a:solidFill>
                <a:latin typeface="Helvetica Neue"/>
              </a:rPr>
              <a:t>1  </a:t>
            </a:r>
            <a:r>
              <a:rPr sz="2600" b="1">
                <a:solidFill>
                  <a:srgbClr val="F2F5F9"/>
                </a:solidFill>
                <a:latin typeface="Helvetica Neue"/>
              </a:rPr>
              <a:t>Own the question</a:t>
            </a:r>
          </a:p>
          <a:p>
            <a:pPr algn="l">
              <a:spcAft>
                <a:spcPts val="1000"/>
              </a:spcAft>
            </a:pPr>
            <a:r>
              <a:rPr sz="2600" b="1">
                <a:solidFill>
                  <a:srgbClr val="F0B429"/>
                </a:solidFill>
                <a:latin typeface="Helvetica Neue"/>
              </a:rPr>
              <a:t>2  </a:t>
            </a:r>
            <a:r>
              <a:rPr sz="2600" b="1">
                <a:solidFill>
                  <a:srgbClr val="F2F5F9"/>
                </a:solidFill>
                <a:latin typeface="Helvetica Neue"/>
              </a:rPr>
              <a:t>Verify everything</a:t>
            </a:r>
          </a:p>
          <a:p>
            <a:pPr algn="l">
              <a:spcAft>
                <a:spcPts val="1000"/>
              </a:spcAft>
            </a:pPr>
            <a:r>
              <a:rPr sz="2600" b="1">
                <a:solidFill>
                  <a:srgbClr val="F0B429"/>
                </a:solidFill>
                <a:latin typeface="Helvetica Neue"/>
              </a:rPr>
              <a:t>3  </a:t>
            </a:r>
            <a:r>
              <a:rPr sz="2600" b="1">
                <a:solidFill>
                  <a:srgbClr val="F2F5F9"/>
                </a:solidFill>
                <a:latin typeface="Helvetica Neue"/>
              </a:rPr>
              <a:t>Critic, not ghostwriter</a:t>
            </a:r>
          </a:p>
          <a:p>
            <a:pPr algn="l">
              <a:spcAft>
                <a:spcPts val="1000"/>
              </a:spcAft>
            </a:pPr>
            <a:r>
              <a:rPr sz="2600" b="1">
                <a:solidFill>
                  <a:srgbClr val="F0B429"/>
                </a:solidFill>
                <a:latin typeface="Helvetica Neue"/>
              </a:rPr>
              <a:t>4  </a:t>
            </a:r>
            <a:r>
              <a:rPr sz="2600" b="1">
                <a:solidFill>
                  <a:srgbClr val="F2F5F9"/>
                </a:solidFill>
                <a:latin typeface="Helvetica Neue"/>
              </a:rPr>
              <a:t>Disclose &amp; document</a:t>
            </a:r>
          </a:p>
          <a:p>
            <a:pPr algn="l">
              <a:spcAft>
                <a:spcPts val="1000"/>
              </a:spcAft>
            </a:pPr>
            <a:r>
              <a:rPr sz="2600" b="1">
                <a:solidFill>
                  <a:srgbClr val="F0B429"/>
                </a:solidFill>
                <a:latin typeface="Helvetica Neue"/>
              </a:rPr>
              <a:t>5  </a:t>
            </a:r>
            <a:r>
              <a:rPr sz="2600" b="1">
                <a:solidFill>
                  <a:srgbClr val="F2F5F9"/>
                </a:solidFill>
                <a:latin typeface="Helvetica Neue"/>
              </a:rPr>
              <a:t>Protect your ideas &amp; data</a:t>
            </a:r>
          </a:p>
          <a:p>
            <a:pPr algn="l">
              <a:spcAft>
                <a:spcPts val="1000"/>
              </a:spcAft>
            </a:pPr>
            <a:r>
              <a:rPr sz="2600" b="1">
                <a:solidFill>
                  <a:srgbClr val="F0B429"/>
                </a:solidFill>
                <a:latin typeface="Helvetica Neue"/>
              </a:rPr>
              <a:t>6  </a:t>
            </a:r>
            <a:r>
              <a:rPr sz="2600" b="1">
                <a:solidFill>
                  <a:srgbClr val="F2F5F9"/>
                </a:solidFill>
                <a:latin typeface="Helvetica Neue"/>
              </a:rPr>
              <a:t>Build proof, not just papers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463040"/>
            <a:ext cx="10362895" cy="457200"/>
          </a:xfrm>
          <a:prstGeom prst="rect">
            <a:avLst/>
          </a:prstGeom>
          <a:noFill/>
        </p:spPr>
        <p:txBody>
          <a:bodyPr wrap="square" anchor="ctr">
            <a:spAutoFit/>
          </a:bodyPr>
          <a:lstStyle/>
          <a:p>
            <a:pPr algn="ctr"/>
            <a:r>
              <a:rPr sz="1400" b="1">
                <a:solidFill>
                  <a:srgbClr val="9AA7B4"/>
                </a:solidFill>
                <a:latin typeface="Helvetica Neue"/>
              </a:rPr>
              <a:t>STARTER PACK — ALL FREE</a:t>
            </a:r>
          </a:p>
        </p:txBody>
      </p:sp>
      <p:sp>
        <p:nvSpPr>
          <p:cNvPr id="3" name="TextBox 2"/>
          <p:cNvSpPr txBox="1"/>
          <p:nvPr/>
        </p:nvSpPr>
        <p:spPr>
          <a:xfrm>
            <a:off x="2743200" y="2747873"/>
            <a:ext cx="6766560" cy="2185214"/>
          </a:xfrm>
          <a:prstGeom prst="rect">
            <a:avLst/>
          </a:prstGeom>
          <a:noFill/>
        </p:spPr>
        <p:txBody>
          <a:bodyPr wrap="square" anchor="ctr">
            <a:spAutoFit/>
          </a:bodyPr>
          <a:lstStyle/>
          <a:p>
            <a:pPr>
              <a:spcAft>
                <a:spcPts val="1600"/>
              </a:spcAft>
            </a:pPr>
            <a:r>
              <a:rPr sz="2400" b="1" dirty="0">
                <a:solidFill>
                  <a:srgbClr val="F0B429"/>
                </a:solidFill>
                <a:latin typeface="Helvetica Neue"/>
              </a:rPr>
              <a:t>Find  </a:t>
            </a:r>
            <a:r>
              <a:rPr sz="2400" b="0" dirty="0">
                <a:solidFill>
                  <a:srgbClr val="F2F5F9"/>
                </a:solidFill>
                <a:latin typeface="Helvetica Neue"/>
              </a:rPr>
              <a:t>· Semantic Scholar, Elicit</a:t>
            </a:r>
            <a:r>
              <a:rPr lang="en-US" sz="2400" dirty="0">
                <a:solidFill>
                  <a:srgbClr val="F2F5F9"/>
                </a:solidFill>
                <a:latin typeface="Helvetica Neue"/>
              </a:rPr>
              <a:t>, Consensus</a:t>
            </a:r>
            <a:endParaRPr sz="2400" b="0" dirty="0">
              <a:solidFill>
                <a:srgbClr val="F2F5F9"/>
              </a:solidFill>
              <a:latin typeface="Helvetica Neue"/>
            </a:endParaRPr>
          </a:p>
          <a:p>
            <a:pPr algn="l">
              <a:spcAft>
                <a:spcPts val="1600"/>
              </a:spcAft>
            </a:pPr>
            <a:r>
              <a:rPr sz="2400" b="1" dirty="0">
                <a:solidFill>
                  <a:srgbClr val="F0B429"/>
                </a:solidFill>
                <a:latin typeface="Helvetica Neue"/>
              </a:rPr>
              <a:t>Read  </a:t>
            </a:r>
            <a:r>
              <a:rPr sz="2400" b="0" dirty="0">
                <a:solidFill>
                  <a:srgbClr val="F2F5F9"/>
                </a:solidFill>
                <a:latin typeface="Helvetica Neue"/>
              </a:rPr>
              <a:t>· AI explains, you verify</a:t>
            </a:r>
          </a:p>
          <a:p>
            <a:pPr algn="l">
              <a:spcAft>
                <a:spcPts val="1600"/>
              </a:spcAft>
            </a:pPr>
            <a:r>
              <a:rPr sz="2400" b="1" dirty="0">
                <a:solidFill>
                  <a:srgbClr val="F0B429"/>
                </a:solidFill>
                <a:latin typeface="Helvetica Neue"/>
              </a:rPr>
              <a:t>Build  </a:t>
            </a:r>
            <a:r>
              <a:rPr sz="2400" b="0" dirty="0">
                <a:solidFill>
                  <a:srgbClr val="F2F5F9"/>
                </a:solidFill>
                <a:latin typeface="Helvetica Neue"/>
              </a:rPr>
              <a:t>· </a:t>
            </a:r>
            <a:r>
              <a:rPr sz="2400" b="0" dirty="0" err="1">
                <a:solidFill>
                  <a:srgbClr val="F2F5F9"/>
                </a:solidFill>
                <a:latin typeface="Helvetica Neue"/>
              </a:rPr>
              <a:t>Colab</a:t>
            </a:r>
            <a:r>
              <a:rPr sz="2400" b="0" dirty="0">
                <a:solidFill>
                  <a:srgbClr val="F2F5F9"/>
                </a:solidFill>
                <a:latin typeface="Helvetica Neue"/>
              </a:rPr>
              <a:t> / Kaggle free GPUs</a:t>
            </a:r>
          </a:p>
          <a:p>
            <a:pPr algn="l">
              <a:spcAft>
                <a:spcPts val="1600"/>
              </a:spcAft>
            </a:pPr>
            <a:r>
              <a:rPr sz="2400" b="1" dirty="0">
                <a:solidFill>
                  <a:srgbClr val="F0B429"/>
                </a:solidFill>
                <a:latin typeface="Helvetica Neue"/>
              </a:rPr>
              <a:t>Write  </a:t>
            </a:r>
            <a:r>
              <a:rPr sz="2400" b="0" dirty="0">
                <a:solidFill>
                  <a:srgbClr val="F2F5F9"/>
                </a:solidFill>
                <a:latin typeface="Helvetica Neue"/>
              </a:rPr>
              <a:t>· you draft → AI edits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2377440"/>
            <a:ext cx="10362895" cy="457200"/>
          </a:xfrm>
          <a:prstGeom prst="rect">
            <a:avLst/>
          </a:prstGeom>
          <a:noFill/>
        </p:spPr>
        <p:txBody>
          <a:bodyPr wrap="square" anchor="ctr">
            <a:spAutoFit/>
          </a:bodyPr>
          <a:lstStyle/>
          <a:p>
            <a:pPr algn="ctr"/>
            <a:r>
              <a:rPr sz="1400" b="1">
                <a:solidFill>
                  <a:srgbClr val="9AA7B4"/>
                </a:solidFill>
                <a:latin typeface="Helvetica Neue"/>
              </a:rPr>
              <a:t>ONE-WEEK CHALLENGE</a:t>
            </a:r>
          </a:p>
        </p:txBody>
      </p:sp>
      <p:sp>
        <p:nvSpPr>
          <p:cNvPr id="3" name="TextBox 2"/>
          <p:cNvSpPr txBox="1"/>
          <p:nvPr/>
        </p:nvSpPr>
        <p:spPr>
          <a:xfrm>
            <a:off x="640080" y="3017520"/>
            <a:ext cx="10911535" cy="914400"/>
          </a:xfrm>
          <a:prstGeom prst="rect">
            <a:avLst/>
          </a:prstGeom>
          <a:noFill/>
        </p:spPr>
        <p:txBody>
          <a:bodyPr wrap="square" anchor="ctr">
            <a:spAutoFit/>
          </a:bodyPr>
          <a:lstStyle/>
          <a:p>
            <a:pPr algn="ctr"/>
            <a:r>
              <a:rPr sz="3800" b="1">
                <a:solidFill>
                  <a:srgbClr val="F2F5F9"/>
                </a:solidFill>
                <a:latin typeface="Helvetica Neue"/>
              </a:rPr>
              <a:t>Pick </a:t>
            </a:r>
            <a:r>
              <a:rPr sz="3800" b="1">
                <a:solidFill>
                  <a:srgbClr val="F0B429"/>
                </a:solidFill>
                <a:latin typeface="Helvetica Neue"/>
              </a:rPr>
              <a:t>one rule</a:t>
            </a:r>
            <a:r>
              <a:rPr sz="3800" b="1">
                <a:solidFill>
                  <a:srgbClr val="F2F5F9"/>
                </a:solidFill>
                <a:latin typeface="Helvetica Neue"/>
              </a:rPr>
              <a:t>. Use it this week.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531911"/>
            <a:ext cx="10362895" cy="307777"/>
          </a:xfrm>
          <a:prstGeom prst="rect">
            <a:avLst/>
          </a:prstGeom>
          <a:noFill/>
        </p:spPr>
        <p:txBody>
          <a:bodyPr wrap="square" anchor="ctr">
            <a:spAutoFit/>
          </a:bodyPr>
          <a:lstStyle/>
          <a:p>
            <a:pPr algn="ctr"/>
            <a:r>
              <a:rPr lang="en-US" sz="1400" b="1" dirty="0">
                <a:solidFill>
                  <a:srgbClr val="9AA7B4"/>
                </a:solidFill>
                <a:latin typeface="Helvetica Neue"/>
              </a:rPr>
              <a:t>MY AI SIDE QUESTS</a:t>
            </a:r>
            <a:endParaRPr sz="1400" b="1" dirty="0">
              <a:solidFill>
                <a:srgbClr val="9AA7B4"/>
              </a:solidFill>
              <a:latin typeface="Helvetica Neue"/>
            </a:endParaRPr>
          </a:p>
        </p:txBody>
      </p:sp>
      <p:sp>
        <p:nvSpPr>
          <p:cNvPr id="3" name="TextBox 2"/>
          <p:cNvSpPr txBox="1"/>
          <p:nvPr/>
        </p:nvSpPr>
        <p:spPr>
          <a:xfrm>
            <a:off x="640080" y="1155710"/>
            <a:ext cx="10911535" cy="523220"/>
          </a:xfrm>
          <a:prstGeom prst="rect">
            <a:avLst/>
          </a:prstGeom>
          <a:noFill/>
        </p:spPr>
        <p:txBody>
          <a:bodyPr wrap="square" anchor="ctr">
            <a:spAutoFit/>
          </a:bodyPr>
          <a:lstStyle/>
          <a:p>
            <a:pPr algn="ctr"/>
            <a:r>
              <a:rPr sz="2800" b="1" dirty="0">
                <a:solidFill>
                  <a:srgbClr val="F2F5F9"/>
                </a:solidFill>
                <a:latin typeface="Helvetica Neue"/>
              </a:rPr>
              <a:t>I built an entire</a:t>
            </a:r>
            <a:r>
              <a:rPr lang="en-US" sz="2800" b="1" dirty="0">
                <a:solidFill>
                  <a:srgbClr val="F2F5F9"/>
                </a:solidFill>
                <a:latin typeface="Helvetica Neue"/>
              </a:rPr>
              <a:t> social gaming</a:t>
            </a:r>
            <a:r>
              <a:rPr sz="2800" b="1" dirty="0">
                <a:solidFill>
                  <a:srgbClr val="F2F5F9"/>
                </a:solidFill>
                <a:latin typeface="Helvetica Neue"/>
              </a:rPr>
              <a:t> app with AI. </a:t>
            </a:r>
            <a:r>
              <a:rPr lang="en-US" sz="2800" b="1" dirty="0">
                <a:solidFill>
                  <a:srgbClr val="F0B429"/>
                </a:solidFill>
                <a:latin typeface="Helvetica Neue"/>
              </a:rPr>
              <a:t>30</a:t>
            </a:r>
            <a:r>
              <a:rPr sz="2800" b="1" dirty="0">
                <a:solidFill>
                  <a:srgbClr val="F0B429"/>
                </a:solidFill>
                <a:latin typeface="Helvetica Neue"/>
              </a:rPr>
              <a:t> games. Alone.</a:t>
            </a:r>
          </a:p>
        </p:txBody>
      </p:sp>
      <p:sp>
        <p:nvSpPr>
          <p:cNvPr id="4" name="Rounded Rectangle 3"/>
          <p:cNvSpPr/>
          <p:nvPr/>
        </p:nvSpPr>
        <p:spPr>
          <a:xfrm>
            <a:off x="4082473" y="1994952"/>
            <a:ext cx="4027054" cy="391882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qr_dedos.png"/>
          <p:cNvPicPr>
            <a:picLocks noChangeAspect="1"/>
          </p:cNvPicPr>
          <p:nvPr/>
        </p:nvPicPr>
        <p:blipFill>
          <a:blip r:embed="rId3"/>
          <a:stretch>
            <a:fillRect/>
          </a:stretch>
        </p:blipFill>
        <p:spPr>
          <a:xfrm>
            <a:off x="4332667" y="2191185"/>
            <a:ext cx="3526360" cy="35263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822960"/>
            <a:ext cx="10911535" cy="914400"/>
          </a:xfrm>
          <a:prstGeom prst="rect">
            <a:avLst/>
          </a:prstGeom>
          <a:noFill/>
        </p:spPr>
        <p:txBody>
          <a:bodyPr wrap="square" anchor="ctr">
            <a:spAutoFit/>
          </a:bodyPr>
          <a:lstStyle/>
          <a:p>
            <a:pPr algn="ctr"/>
            <a:r>
              <a:rPr sz="4400" b="1">
                <a:solidFill>
                  <a:srgbClr val="F2F5F9"/>
                </a:solidFill>
                <a:latin typeface="Helvetica Neue"/>
              </a:rPr>
              <a:t>Questions?</a:t>
            </a:r>
          </a:p>
        </p:txBody>
      </p:sp>
      <p:sp>
        <p:nvSpPr>
          <p:cNvPr id="3" name="TextBox 2"/>
          <p:cNvSpPr txBox="1"/>
          <p:nvPr/>
        </p:nvSpPr>
        <p:spPr>
          <a:xfrm>
            <a:off x="640080" y="1737360"/>
            <a:ext cx="10911535" cy="457200"/>
          </a:xfrm>
          <a:prstGeom prst="rect">
            <a:avLst/>
          </a:prstGeom>
          <a:noFill/>
        </p:spPr>
        <p:txBody>
          <a:bodyPr wrap="square" anchor="ctr">
            <a:spAutoFit/>
          </a:bodyPr>
          <a:lstStyle/>
          <a:p>
            <a:pPr algn="ctr"/>
            <a:r>
              <a:rPr sz="1600" b="0">
                <a:solidFill>
                  <a:srgbClr val="9AA7B4"/>
                </a:solidFill>
                <a:latin typeface="Helvetica Neue"/>
              </a:rPr>
              <a:t>While you think — challenge the person next to you. 🏆</a:t>
            </a:r>
          </a:p>
        </p:txBody>
      </p:sp>
      <p:sp>
        <p:nvSpPr>
          <p:cNvPr id="6" name="Rounded Rectangle 5">
            <a:extLst>
              <a:ext uri="{FF2B5EF4-FFF2-40B4-BE49-F238E27FC236}">
                <a16:creationId xmlns:a16="http://schemas.microsoft.com/office/drawing/2014/main" id="{D0FCAC9B-B5CC-432A-155B-6DB57EA3A075}"/>
              </a:ext>
            </a:extLst>
          </p:cNvPr>
          <p:cNvSpPr/>
          <p:nvPr/>
        </p:nvSpPr>
        <p:spPr>
          <a:xfrm>
            <a:off x="4082473" y="2440330"/>
            <a:ext cx="4027054" cy="391882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qr_dedos.png">
            <a:extLst>
              <a:ext uri="{FF2B5EF4-FFF2-40B4-BE49-F238E27FC236}">
                <a16:creationId xmlns:a16="http://schemas.microsoft.com/office/drawing/2014/main" id="{94FEE5B6-224B-4542-F12A-4B30D93662D4}"/>
              </a:ext>
            </a:extLst>
          </p:cNvPr>
          <p:cNvPicPr>
            <a:picLocks noChangeAspect="1"/>
          </p:cNvPicPr>
          <p:nvPr/>
        </p:nvPicPr>
        <p:blipFill>
          <a:blip r:embed="rId3"/>
          <a:stretch>
            <a:fillRect/>
          </a:stretch>
        </p:blipFill>
        <p:spPr>
          <a:xfrm>
            <a:off x="4332667" y="2636563"/>
            <a:ext cx="3526360" cy="3526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1266</Words>
  <Application>Microsoft Macintosh PowerPoint</Application>
  <PresentationFormat>Widescreen</PresentationFormat>
  <Paragraphs>113</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Adel Elzemity</cp:lastModifiedBy>
  <cp:revision>2</cp:revision>
  <dcterms:created xsi:type="dcterms:W3CDTF">2013-01-27T09:14:16Z</dcterms:created>
  <dcterms:modified xsi:type="dcterms:W3CDTF">2026-09-21T22:49:14Z</dcterms:modified>
  <cp:category/>
</cp:coreProperties>
</file>